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0db91e516242b0" /><Relationship Type="http://schemas.openxmlformats.org/officeDocument/2006/relationships/extended-properties" Target="/docProps/app.xml" Id="R25c8d244f8824ffb" /><Relationship Type="http://schemas.openxmlformats.org/officeDocument/2006/relationships/officeDocument" Target="/ppt/presentation.xml" Id="R000683f672bf4a8c" /></Relationships>
</file>

<file path=ppt/presentation.xml><?xml version="1.0" encoding="utf-8"?>
<p:presentation xmlns:p="http://schemas.openxmlformats.org/presentationml/2006/main">
  <p:sldMasterIdLst>
    <p:sldMasterId xmlns:r="http://schemas.openxmlformats.org/officeDocument/2006/relationships" id="2147483648" r:id="Rc77b1694b8fc4673"/>
  </p:sldMasterIdLst>
  <p:notesMasterIdLst>
    <p:notesMasterId xmlns:r="http://schemas.openxmlformats.org/officeDocument/2006/relationships" r:id="R37b62e12e90b4ee3"/>
  </p:notesMasterIdLst>
  <p:sldIdLst>
    <p:sldId xmlns:r="http://schemas.openxmlformats.org/officeDocument/2006/relationships" id="256" r:id="Rb4a4cb86a9ad405a"/>
    <p:sldId xmlns:r="http://schemas.openxmlformats.org/officeDocument/2006/relationships" id="257" r:id="R9e7be413a6094b7b"/>
    <p:sldId xmlns:r="http://schemas.openxmlformats.org/officeDocument/2006/relationships" id="258" r:id="R45f99578d9c04950"/>
    <p:sldId xmlns:r="http://schemas.openxmlformats.org/officeDocument/2006/relationships" id="259" r:id="Rfdad1201220d4dec"/>
    <p:sldId xmlns:r="http://schemas.openxmlformats.org/officeDocument/2006/relationships" id="260" r:id="R94ffd24f59ad42c7"/>
    <p:sldId xmlns:r="http://schemas.openxmlformats.org/officeDocument/2006/relationships" id="261" r:id="Rede87b619cc549b7"/>
    <p:sldId xmlns:r="http://schemas.openxmlformats.org/officeDocument/2006/relationships" id="262" r:id="R96e420fbb125426a"/>
    <p:sldId xmlns:r="http://schemas.openxmlformats.org/officeDocument/2006/relationships" id="263" r:id="R253cbcc0e09942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77cded48f04236" /><Relationship Type="http://schemas.openxmlformats.org/officeDocument/2006/relationships/slideMaster" Target="/ppt/slideMasters/slideMaster1.xml" Id="Rc77b1694b8fc4673" /><Relationship Type="http://schemas.openxmlformats.org/officeDocument/2006/relationships/notesMaster" Target="/ppt/notesMasters/notesMaster1.xml" Id="R37b62e12e90b4ee3" /><Relationship Type="http://schemas.openxmlformats.org/officeDocument/2006/relationships/presProps" Target="/ppt/presProps.xml" Id="R430adb1d51b546b6" /><Relationship Type="http://schemas.openxmlformats.org/officeDocument/2006/relationships/tableStyles" Target="/ppt/tableStyles.xml" Id="R50fa98fea1d64a4c" /><Relationship Type="http://schemas.openxmlformats.org/officeDocument/2006/relationships/slide" Target="/ppt/slides/slide1.xml" Id="Rb4a4cb86a9ad405a" /><Relationship Type="http://schemas.openxmlformats.org/officeDocument/2006/relationships/slide" Target="/ppt/slides/slide2.xml" Id="R9e7be413a6094b7b" /><Relationship Type="http://schemas.openxmlformats.org/officeDocument/2006/relationships/slide" Target="/ppt/slides/slide3.xml" Id="R45f99578d9c04950" /><Relationship Type="http://schemas.openxmlformats.org/officeDocument/2006/relationships/slide" Target="/ppt/slides/slide4.xml" Id="Rfdad1201220d4dec" /><Relationship Type="http://schemas.openxmlformats.org/officeDocument/2006/relationships/slide" Target="/ppt/slides/slide5.xml" Id="R94ffd24f59ad42c7" /><Relationship Type="http://schemas.openxmlformats.org/officeDocument/2006/relationships/slide" Target="/ppt/slides/slide6.xml" Id="Rede87b619cc549b7" /><Relationship Type="http://schemas.openxmlformats.org/officeDocument/2006/relationships/slide" Target="/ppt/slides/slide7.xml" Id="R96e420fbb125426a" /><Relationship Type="http://schemas.openxmlformats.org/officeDocument/2006/relationships/slide" Target="/ppt/slides/slide8.xml" Id="R253cbcc0e09942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b3e415bec442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00d7a9bd0947fd" /><Relationship Type="http://schemas.openxmlformats.org/officeDocument/2006/relationships/notesMaster" Target="/ppt/notesMasters/notesMaster1.xml" Id="R7f5e0202f1034a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0784dd98364f7d" /><Relationship Type="http://schemas.openxmlformats.org/officeDocument/2006/relationships/notesMaster" Target="/ppt/notesMasters/notesMaster1.xml" Id="R926e6d858cb3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19803016b94816" /><Relationship Type="http://schemas.openxmlformats.org/officeDocument/2006/relationships/notesMaster" Target="/ppt/notesMasters/notesMaster1.xml" Id="R67c0b15cf0be4c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54b58663b9408b" /><Relationship Type="http://schemas.openxmlformats.org/officeDocument/2006/relationships/notesMaster" Target="/ppt/notesMasters/notesMaster1.xml" Id="R83e1e61f1d9d4c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963a32ee394e27" /><Relationship Type="http://schemas.openxmlformats.org/officeDocument/2006/relationships/notesMaster" Target="/ppt/notesMasters/notesMaster1.xml" Id="R158dfa7b08e945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84f3814609439b" /><Relationship Type="http://schemas.openxmlformats.org/officeDocument/2006/relationships/notesMaster" Target="/ppt/notesMasters/notesMaster1.xml" Id="R0cec2433000f4d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a5a4f76ce544ba" /><Relationship Type="http://schemas.openxmlformats.org/officeDocument/2006/relationships/notesMaster" Target="/ppt/notesMasters/notesMaster1.xml" Id="R66944da6a5004b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8dc84aae9d4121" /><Relationship Type="http://schemas.openxmlformats.org/officeDocument/2006/relationships/notesMaster" Target="/ppt/notesMasters/notesMaster1.xml" Id="Ra7287d9097f5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Private hackathon candidate. Track: Wildcard (Tinkerer). Product is the transferable YamRail/Code_CLI package and executable yr-code. Current scope: Observed scope: Windows 11 / Python 3.12.10. This capture is not another-machine or VM proof.. No live sponsor inference/query or multi-model execution is inferred from an offline interface. Current execution source pins:</a:t>
            </a:r>
          </a:p>
          <a:p xmlns:a="http://schemas.openxmlformats.org/drawingml/2006/main">
            <a:r>
              <a:t>[</a:t>
            </a:r>
          </a:p>
          <a:p xmlns:a="http://schemas.openxmlformats.org/drawingml/2006/main">
            <a:r>
              <a:t>  {</a:t>
            </a:r>
          </a:p>
          <a:p xmlns:a="http://schemas.openxmlformats.org/drawingml/2006/main">
            <a:r>
              <a:t>    "path": "evidence/observed_and_labelled/CLI_WINDOWS_SCOPED.json",</a:t>
            </a:r>
          </a:p>
          <a:p xmlns:a="http://schemas.openxmlformats.org/drawingml/2006/main">
            <a:r>
              <a:t>    "sha256": "6a08df61941f87465b1159d94e6a7f5d8cc181ed419da6b5c12c418ce6924727",</a:t>
            </a:r>
          </a:p>
          <a:p xmlns:a="http://schemas.openxmlformats.org/drawingml/2006/main">
            <a:r>
              <a:t>    "bytes": 13801</a:t>
            </a:r>
          </a:p>
          <a:p xmlns:a="http://schemas.openxmlformats.org/drawingml/2006/main">
            <a:r>
              <a:t>  },</a:t>
            </a:r>
          </a:p>
          <a:p xmlns:a="http://schemas.openxmlformats.org/drawingml/2006/main">
            <a:r>
              <a:t>  {</a:t>
            </a:r>
          </a:p>
          <a:p xmlns:a="http://schemas.openxmlformats.org/drawingml/2006/main">
            <a:r>
              <a:t>    "path": "media/source_evidence/SOURCE_CHECKPOINT_VERIFICATION.json",</a:t>
            </a:r>
          </a:p>
          <a:p xmlns:a="http://schemas.openxmlformats.org/drawingml/2006/main">
            <a:r>
              <a:t>    "sha256": "78c7d71235955180dc5e9d4ed536d358c58c744485fc533bb62cba4a194d9dcc",</a:t>
            </a:r>
          </a:p>
          <a:p xmlns:a="http://schemas.openxmlformats.org/drawingml/2006/main">
            <a:r>
              <a:t>    "bytes": 999</a:t>
            </a:r>
          </a:p>
          <a:p xmlns:a="http://schemas.openxmlformats.org/drawingml/2006/main">
            <a:r>
              <a:t>  },</a:t>
            </a:r>
          </a:p>
          <a:p xmlns:a="http://schemas.openxmlformats.org/drawingml/2006/main">
            <a:r>
              <a:t>  {</a:t>
            </a:r>
          </a:p>
          <a:p xmlns:a="http://schemas.openxmlformats.org/drawingml/2006/main">
            <a:r>
              <a:t>    "path": "media/source_evidence/R008_CLI_SCOPE.json",</a:t>
            </a:r>
          </a:p>
          <a:p xmlns:a="http://schemas.openxmlformats.org/drawingml/2006/main">
            <a:r>
              <a:t>    "sha256": "877894e5b674a6e469a65a656cf2773ec27472d2b7ea36dc7c4532413203bd5e",</a:t>
            </a:r>
          </a:p>
          <a:p xmlns:a="http://schemas.openxmlformats.org/drawingml/2006/main">
            <a:r>
              <a:t>    "bytes": 2821</a:t>
            </a:r>
          </a:p>
          <a:p xmlns:a="http://schemas.openxmlformats.org/drawingml/2006/main">
            <a:r>
              <a:t>  },</a:t>
            </a:r>
          </a:p>
          <a:p xmlns:a="http://schemas.openxmlformats.org/drawingml/2006/main">
            <a:r>
              <a:t>  {</a:t>
            </a:r>
          </a:p>
          <a:p xmlns:a="http://schemas.openxmlformats.org/drawingml/2006/main">
            <a:r>
              <a:t>    "path": "media/source_evidence/R008_RENDERER_RECEIPT.json",</a:t>
            </a:r>
          </a:p>
          <a:p xmlns:a="http://schemas.openxmlformats.org/drawingml/2006/main">
            <a:r>
              <a:t>    "sha256": "442e2e6d611ae54e5e963fd26af079440c8734200937876151eac35a916b47c8",</a:t>
            </a:r>
          </a:p>
          <a:p xmlns:a="http://schemas.openxmlformats.org/drawingml/2006/main">
            <a:r>
              <a:t>    "bytes": 3319</a:t>
            </a:r>
          </a:p>
          <a:p xmlns:a="http://schemas.openxmlformats.org/drawingml/2006/main">
            <a:r>
              <a:t>  },</a:t>
            </a:r>
          </a:p>
          <a:p xmlns:a="http://schemas.openxmlformats.org/drawingml/2006/main">
            <a:r>
              <a:t>  {</a:t>
            </a:r>
          </a:p>
          <a:p xmlns:a="http://schemas.openxmlformats.org/drawingml/2006/main">
            <a:r>
              <a:t>    "path": "evidence/observed_and_labelled/sponsor_rules/OFFICIAL_SOURCE_RECEIPT.json",</a:t>
            </a:r>
          </a:p>
          <a:p xmlns:a="http://schemas.openxmlformats.org/drawingml/2006/main">
            <a:r>
              <a:t>    "sha256": "7ba74c9d4ac56d5028a03223aaefd038b76eb5348a580b6491af0984666f888c",</a:t>
            </a:r>
          </a:p>
          <a:p xmlns:a="http://schemas.openxmlformats.org/drawingml/2006/main">
            <a:r>
              <a:t>    "bytes": 1876</a:t>
            </a:r>
          </a:p>
          <a:p xmlns:a="http://schemas.openxmlformats.org/drawingml/2006/main">
            <a:r>
              <a:t>  },</a:t>
            </a:r>
          </a:p>
          <a:p xmlns:a="http://schemas.openxmlformats.org/drawingml/2006/main">
            <a:r>
              <a:t>  {</a:t>
            </a:r>
          </a:p>
          <a:p xmlns:a="http://schemas.openxmlformats.org/drawingml/2006/main">
            <a:r>
              <a:t>    "path": "evidence/observed_and_labelled/sponsor_rules/ELIGIBILITY_MATRIX.json",</a:t>
            </a:r>
          </a:p>
          <a:p xmlns:a="http://schemas.openxmlformats.org/drawingml/2006/main">
            <a:r>
              <a:t>    "sha256": "baf3181ac167608433512e7bfd2226f265c52ebc38c90ca38c1df166730d210c",</a:t>
            </a:r>
          </a:p>
          <a:p xmlns:a="http://schemas.openxmlformats.org/drawingml/2006/main">
            <a:r>
              <a:t>    "bytes": 4099</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summarize selected fields of fresh R007 stdout; they are not invented shell output. Captures and byte hashes live under package-relative evidence paths. [</a:t>
            </a:r>
          </a:p>
          <a:p xmlns:a="http://schemas.openxmlformats.org/drawingml/2006/main">
            <a:r>
              <a:t>  {</a:t>
            </a:r>
          </a:p>
          <a:p xmlns:a="http://schemas.openxmlformats.org/drawingml/2006/main">
            <a:r>
              <a:t>    "path": "evidence/observed_and_labelled/CLI_WINDOWS_SCOPED.json",</a:t>
            </a:r>
          </a:p>
          <a:p xmlns:a="http://schemas.openxmlformats.org/drawingml/2006/main">
            <a:r>
              <a:t>    "sha256": "6a08df61941f87465b1159d94e6a7f5d8cc181ed419da6b5c12c418ce6924727",</a:t>
            </a:r>
          </a:p>
          <a:p xmlns:a="http://schemas.openxmlformats.org/drawingml/2006/main">
            <a:r>
              <a:t>    "bytes": 13801</a:t>
            </a:r>
          </a:p>
          <a:p xmlns:a="http://schemas.openxmlformats.org/drawingml/2006/main">
            <a:r>
              <a:t>  },</a:t>
            </a:r>
          </a:p>
          <a:p xmlns:a="http://schemas.openxmlformats.org/drawingml/2006/main">
            <a:r>
              <a:t>  {</a:t>
            </a:r>
          </a:p>
          <a:p xmlns:a="http://schemas.openxmlformats.org/drawingml/2006/main">
            <a:r>
              <a:t>    "path": "media/source_evidence/SOURCE_CHECKPOINT_VERIFICATION.json",</a:t>
            </a:r>
          </a:p>
          <a:p xmlns:a="http://schemas.openxmlformats.org/drawingml/2006/main">
            <a:r>
              <a:t>    "sha256": "78c7d71235955180dc5e9d4ed536d358c58c744485fc533bb62cba4a194d9dcc",</a:t>
            </a:r>
          </a:p>
          <a:p xmlns:a="http://schemas.openxmlformats.org/drawingml/2006/main">
            <a:r>
              <a:t>    "bytes": 999</a:t>
            </a:r>
          </a:p>
          <a:p xmlns:a="http://schemas.openxmlformats.org/drawingml/2006/main">
            <a:r>
              <a:t>  },</a:t>
            </a:r>
          </a:p>
          <a:p xmlns:a="http://schemas.openxmlformats.org/drawingml/2006/main">
            <a:r>
              <a:t>  {</a:t>
            </a:r>
          </a:p>
          <a:p xmlns:a="http://schemas.openxmlformats.org/drawingml/2006/main">
            <a:r>
              <a:t>    "path": "media/source_evidence/R008_CLI_SCOPE.json",</a:t>
            </a:r>
          </a:p>
          <a:p xmlns:a="http://schemas.openxmlformats.org/drawingml/2006/main">
            <a:r>
              <a:t>    "sha256": "877894e5b674a6e469a65a656cf2773ec27472d2b7ea36dc7c4532413203bd5e",</a:t>
            </a:r>
          </a:p>
          <a:p xmlns:a="http://schemas.openxmlformats.org/drawingml/2006/main">
            <a:r>
              <a:t>    "bytes": 2821</a:t>
            </a:r>
          </a:p>
          <a:p xmlns:a="http://schemas.openxmlformats.org/drawingml/2006/main">
            <a:r>
              <a:t>  },</a:t>
            </a:r>
          </a:p>
          <a:p xmlns:a="http://schemas.openxmlformats.org/drawingml/2006/main">
            <a:r>
              <a:t>  {</a:t>
            </a:r>
          </a:p>
          <a:p xmlns:a="http://schemas.openxmlformats.org/drawingml/2006/main">
            <a:r>
              <a:t>    "path": "media/source_evidence/R008_RENDERER_RECEIPT.json",</a:t>
            </a:r>
          </a:p>
          <a:p xmlns:a="http://schemas.openxmlformats.org/drawingml/2006/main">
            <a:r>
              <a:t>    "sha256": "442e2e6d611ae54e5e963fd26af079440c8734200937876151eac35a916b47c8",</a:t>
            </a:r>
          </a:p>
          <a:p xmlns:a="http://schemas.openxmlformats.org/drawingml/2006/main">
            <a:r>
              <a:t>    "bytes": 3319</a:t>
            </a:r>
          </a:p>
          <a:p xmlns:a="http://schemas.openxmlformats.org/drawingml/2006/main">
            <a:r>
              <a:t>  },</a:t>
            </a:r>
          </a:p>
          <a:p xmlns:a="http://schemas.openxmlformats.org/drawingml/2006/main">
            <a:r>
              <a:t>  {</a:t>
            </a:r>
          </a:p>
          <a:p xmlns:a="http://schemas.openxmlformats.org/drawingml/2006/main">
            <a:r>
              <a:t>    "path": "evidence/observed_and_labelled/sponsor_rules/OFFICIAL_SOURCE_RECEIPT.json",</a:t>
            </a:r>
          </a:p>
          <a:p xmlns:a="http://schemas.openxmlformats.org/drawingml/2006/main">
            <a:r>
              <a:t>    "sha256": "7ba74c9d4ac56d5028a03223aaefd038b76eb5348a580b6491af0984666f888c",</a:t>
            </a:r>
          </a:p>
          <a:p xmlns:a="http://schemas.openxmlformats.org/drawingml/2006/main">
            <a:r>
              <a:t>    "bytes": 1876</a:t>
            </a:r>
          </a:p>
          <a:p xmlns:a="http://schemas.openxmlformats.org/drawingml/2006/main">
            <a:r>
              <a:t>  },</a:t>
            </a:r>
          </a:p>
          <a:p xmlns:a="http://schemas.openxmlformats.org/drawingml/2006/main">
            <a:r>
              <a:t>  {</a:t>
            </a:r>
          </a:p>
          <a:p xmlns:a="http://schemas.openxmlformats.org/drawingml/2006/main">
            <a:r>
              <a:t>    "path": "evidence/observed_and_labelled/sponsor_rules/ELIGIBILITY_MATRIX.json",</a:t>
            </a:r>
          </a:p>
          <a:p xmlns:a="http://schemas.openxmlformats.org/drawingml/2006/main">
            <a:r>
              <a:t>    "sha256": "baf3181ac167608433512e7bfd2226f265c52ebc38c90ca38c1df166730d210c",</a:t>
            </a:r>
          </a:p>
          <a:p xmlns:a="http://schemas.openxmlformats.org/drawingml/2006/main">
            <a:r>
              <a:t>    "bytes": 4099</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architecture diagram of the current wrapper/native-runtime integration. This is local package work state, not a new canonical YamRail ledger. The fresh offline workflow executes native Python processes, a controlled exit23 crash, durable STOP/RESUME and current tests of retained code fixtures. Domain inputs and cost units are synthetic. No new model generation or original model-execution receipt is imported. Only the reused WorkLedger writes local workflow state. No private/canonical ledger is imported. Source relocation supports a fresh run; relocated active journals remain HOLD pending reconciliation. This is outer task supervision, not proof of full Agent-to-yard isolation. This Windows capture explicitly configured an optional Node runtime via RTA_NODE. Doctor correctly reported Node absent from PATH; no default Node installation is claimed. The raw author path remains outside the package. Sources: [</a:t>
            </a:r>
          </a:p>
          <a:p xmlns:a="http://schemas.openxmlformats.org/drawingml/2006/main">
            <a:r>
              <a:t>  {</a:t>
            </a:r>
          </a:p>
          <a:p xmlns:a="http://schemas.openxmlformats.org/drawingml/2006/main">
            <a:r>
              <a:t>    "path": "evidence/observed_and_labelled/CLI_WINDOWS_SCOPED.json",</a:t>
            </a:r>
          </a:p>
          <a:p xmlns:a="http://schemas.openxmlformats.org/drawingml/2006/main">
            <a:r>
              <a:t>    "sha256": "6a08df61941f87465b1159d94e6a7f5d8cc181ed419da6b5c12c418ce6924727",</a:t>
            </a:r>
          </a:p>
          <a:p xmlns:a="http://schemas.openxmlformats.org/drawingml/2006/main">
            <a:r>
              <a:t>    "bytes": 13801</a:t>
            </a:r>
          </a:p>
          <a:p xmlns:a="http://schemas.openxmlformats.org/drawingml/2006/main">
            <a:r>
              <a:t>  },</a:t>
            </a:r>
          </a:p>
          <a:p xmlns:a="http://schemas.openxmlformats.org/drawingml/2006/main">
            <a:r>
              <a:t>  {</a:t>
            </a:r>
          </a:p>
          <a:p xmlns:a="http://schemas.openxmlformats.org/drawingml/2006/main">
            <a:r>
              <a:t>    "path": "media/source_evidence/SOURCE_CHECKPOINT_VERIFICATION.json",</a:t>
            </a:r>
          </a:p>
          <a:p xmlns:a="http://schemas.openxmlformats.org/drawingml/2006/main">
            <a:r>
              <a:t>    "sha256": "78c7d71235955180dc5e9d4ed536d358c58c744485fc533bb62cba4a194d9dcc",</a:t>
            </a:r>
          </a:p>
          <a:p xmlns:a="http://schemas.openxmlformats.org/drawingml/2006/main">
            <a:r>
              <a:t>    "bytes": 999</a:t>
            </a:r>
          </a:p>
          <a:p xmlns:a="http://schemas.openxmlformats.org/drawingml/2006/main">
            <a:r>
              <a:t>  },</a:t>
            </a:r>
          </a:p>
          <a:p xmlns:a="http://schemas.openxmlformats.org/drawingml/2006/main">
            <a:r>
              <a:t>  {</a:t>
            </a:r>
          </a:p>
          <a:p xmlns:a="http://schemas.openxmlformats.org/drawingml/2006/main">
            <a:r>
              <a:t>    "path": "media/source_evidence/R008_CLI_SCOPE.json",</a:t>
            </a:r>
          </a:p>
          <a:p xmlns:a="http://schemas.openxmlformats.org/drawingml/2006/main">
            <a:r>
              <a:t>    "sha256": "877894e5b674a6e469a65a656cf2773ec27472d2b7ea36dc7c4532413203bd5e",</a:t>
            </a:r>
          </a:p>
          <a:p xmlns:a="http://schemas.openxmlformats.org/drawingml/2006/main">
            <a:r>
              <a:t>    "bytes": 2821</a:t>
            </a:r>
          </a:p>
          <a:p xmlns:a="http://schemas.openxmlformats.org/drawingml/2006/main">
            <a:r>
              <a:t>  },</a:t>
            </a:r>
          </a:p>
          <a:p xmlns:a="http://schemas.openxmlformats.org/drawingml/2006/main">
            <a:r>
              <a:t>  {</a:t>
            </a:r>
          </a:p>
          <a:p xmlns:a="http://schemas.openxmlformats.org/drawingml/2006/main">
            <a:r>
              <a:t>    "path": "media/source_evidence/R008_RENDERER_RECEIPT.json",</a:t>
            </a:r>
          </a:p>
          <a:p xmlns:a="http://schemas.openxmlformats.org/drawingml/2006/main">
            <a:r>
              <a:t>    "sha256": "442e2e6d611ae54e5e963fd26af079440c8734200937876151eac35a916b47c8",</a:t>
            </a:r>
          </a:p>
          <a:p xmlns:a="http://schemas.openxmlformats.org/drawingml/2006/main">
            <a:r>
              <a:t>    "bytes": 3319</a:t>
            </a:r>
          </a:p>
          <a:p xmlns:a="http://schemas.openxmlformats.org/drawingml/2006/main">
            <a:r>
              <a:t>  },</a:t>
            </a:r>
          </a:p>
          <a:p xmlns:a="http://schemas.openxmlformats.org/drawingml/2006/main">
            <a:r>
              <a:t>  {</a:t>
            </a:r>
          </a:p>
          <a:p xmlns:a="http://schemas.openxmlformats.org/drawingml/2006/main">
            <a:r>
              <a:t>    "path": "evidence/observed_and_labelled/sponsor_rules/OFFICIAL_SOURCE_RECEIPT.json",</a:t>
            </a:r>
          </a:p>
          <a:p xmlns:a="http://schemas.openxmlformats.org/drawingml/2006/main">
            <a:r>
              <a:t>    "sha256": "7ba74c9d4ac56d5028a03223aaefd038b76eb5348a580b6491af0984666f888c",</a:t>
            </a:r>
          </a:p>
          <a:p xmlns:a="http://schemas.openxmlformats.org/drawingml/2006/main">
            <a:r>
              <a:t>    "bytes": 1876</a:t>
            </a:r>
          </a:p>
          <a:p xmlns:a="http://schemas.openxmlformats.org/drawingml/2006/main">
            <a:r>
              <a:t>  },</a:t>
            </a:r>
          </a:p>
          <a:p xmlns:a="http://schemas.openxmlformats.org/drawingml/2006/main">
            <a:r>
              <a:t>  {</a:t>
            </a:r>
          </a:p>
          <a:p xmlns:a="http://schemas.openxmlformats.org/drawingml/2006/main">
            <a:r>
              <a:t>    "path": "evidence/observed_and_labelled/sponsor_rules/ELIGIBILITY_MATRIX.json",</a:t>
            </a:r>
          </a:p>
          <a:p xmlns:a="http://schemas.openxmlformats.org/drawingml/2006/main">
            <a:r>
              <a:t>    "sha256": "baf3181ac167608433512e7bfd2226f265c52ebc38c90ca38c1df166730d210c",</a:t>
            </a:r>
          </a:p>
          <a:p xmlns:a="http://schemas.openxmlformats.org/drawingml/2006/main">
            <a:r>
              <a:t>    "bytes": 4099</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state table is derived from current native execution, not an illustrative success diagram. Native fields selected from evidence/observed_and_labelled/CLI_WINDOWS_SCOPED.json SHA256 6a08df61941f87465b1159d94e6a7f5d8cc181ed419da6b5c12c418ce6924727. No author-host journal is shipped. The fresh offline workflow executes native Python processes, a controlled exit23 crash, durable STOP/RESUME and current tests of retained code fixtures. Domain inputs and cost units are synthetic. No new model generation or original model-execution receipt is imported. Only the reused WorkLedger writes local workflow state. No private/canonical ledger is imported. Source relocation supports a fresh run; relocated active journals remain HOLD pending reconciliation. This is outer task supervision, not proof of full Agent-to-yard isolation. This Windows capture explicitly configured an optional Node runtime via RTA_NODE. Doctor correctly reported Node absent from PATH; no default Node installation is claimed. The raw author path remains outside the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R008 mandatory local report/graph outputs: actual source-linked A4 landscape 297x210mm SVG, PNG, PDF, graph master JSON and receipts. Preserve source relationships and uncertainty; reference relations do not establish causality. Actual source-class SYNTHETIC_FIXTURE. Renderer receipt media/source_evidence/R008_RENDERER_RECEIPT.json SHA256 442e2e6d611ae54e5e963fd26af079440c8734200937876151eac35a916b47c8. Current CLI/native supervision selection: media/source_evidence/R008_CLI_SCOPE.json SHA256 877894e5b674a6e469a65a656cf2773ec27472d2b7ea36dc7c4532413203bd5e. Source-linked image bytes SHA256 3ca1663a039ac3d3307b62ba7686d25ba0374909b1ae33baf07adaceec23fce6. Shared citations do not establish causation; UNKNOWN/HOLD and source IDs remain visible. Optional AutoCAD execution is only user-initiated on that user’s own workstation with verified interactive local licensed product/session and explicit scope. Executable/registry/COM presence alone does not establish entitlement. Unknown license/session means HOLD_CAD_LICENSE_UNVERIFIED_NO_AUTOCAD_LAUNCH. Server/cloud/headless/hosted/proxied AutoCAD, Autodesk Platform Services Design Automation for AutoCAD and fallback/test bypass are prohibited. No AutoCAD launch occurred or is inferred from graph generation. Cloud may transport sanitized non-CAD orders/evidence but may not invoke or remote-control AutoCAD. Local open-format graph/report rendering continues without AutoCAD.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Wildcard track permits extending prior work; only new work is represented as the competition contribution. Source maturity and licenses stay explicit. Source imports do not establish that all tools are installed or executable. No host/private canonical ledger is included. Native source comes from declared YamRail work and pinned source manifests. OSINT PR79 pin9f3a5e61b72a0517f683d3e7ccd22a0904782fec and PR62 pin907593e0d045cfc926943d186eb0aa19ad7c92bb. The competition delta is the transferable command surface, safe recon, local report/graph adapters, evidence packaging and portable installation work. Prior prototypes retain their maturity and license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primary official rules: https://academy.genai.works/courses/open-agent-hackathon-2026/details . Fresh public serialized FAQ5/8 states Zetaris data, at least one working Meterless Engine with a test, and Nightshift primary AI provider with NVIDIA connected. Cursor or any AI coding tool is allowed; no Cursor use is claimed. Secondary official event page has a broader NVIDIA-use statement and is preserved separately: https://hackathon.genai.works/event/open-agent-hackathon-2026 . Follow the user-designated Academy source; do not silently close the difference. Source hashes in evidence/observed_and_labelled/sponsor_rules/OFFICIAL_SOURCE_RECEIPT.json. Meterless upstream World Model actually ran locally. Nightshift/NVIDIA and Zetaris live requests remain UNEXECUTED/HOLD, with zero new model/provider calls in the captured journey. Current Academy rules require the actual provider/data integrations and a real Nightshift request in the demo; this offline package does not establish full contest eligibility. Cursor was not used; actual Codex construction is declared separately from product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Submission has not occurred. Human authority is required for registration/submission, public disclosure, new billable calls and canonical promotion. No complete RAM isolation, universal portability, full Agent-to-yard isolation or proprietary Office/CAD license is inferred. Other-machine / VM proof, RAM / encryption and full agent-to-yard routing remain HOLD.</a:t>
            </a:r>
          </a:p>
          <a:p xmlns:a="http://schemas.openxmlformats.org/drawingml/2006/main">
            <a:r>
              <a:t>Moved active journals stay HOLD; transfer source and evidence for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15ec12c7ed4d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0045932db74d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892684ed1546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5d09c6ea2d4e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c26547f64748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d49972ec494e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3E1EB9-B660-4AED-8D1F-EC5C49D7705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55CB32-13F0-4955-852F-D95D8AB704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22B009-45B7-47D0-9D31-F60EA8802D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F396AA-3221-4116-AA8A-310177DD64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6F6373-F8B7-44D3-8729-5D3D853F76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2CB4EE-E76C-46C8-B78D-603169936A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826DFB-4129-40E5-BAAA-71BAD557BE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E9F0C8-648F-4599-8542-F60949B855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CFC0A3-0D16-42C3-94A8-10211BC09B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564227-40E2-47A5-838A-AE31D57FAB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97761b38e24a87" /><Relationship Type="http://schemas.openxmlformats.org/officeDocument/2006/relationships/slideLayout" Target="/ppt/slideLayouts/slideLayout1.xml" Id="R6b50fb5fc3f84380" /><Relationship Type="http://schemas.openxmlformats.org/officeDocument/2006/relationships/slideLayout" Target="/ppt/slideLayouts/slideLayout2.xml" Id="R42d590809a424fc0" /><Relationship Type="http://schemas.openxmlformats.org/officeDocument/2006/relationships/slideLayout" Target="/ppt/slideLayouts/slideLayout3.xml" Id="R3acfdac4b75f4cee" /><Relationship Type="http://schemas.openxmlformats.org/officeDocument/2006/relationships/slideLayout" Target="/ppt/slideLayouts/slideLayout4.xml" Id="R4276adfd479748ea" /><Relationship Type="http://schemas.openxmlformats.org/officeDocument/2006/relationships/slideLayout" Target="/ppt/slideLayouts/slideLayout5.xml" Id="Rd63b3b26e4ff4243" /><Relationship Type="http://schemas.openxmlformats.org/officeDocument/2006/relationships/slideLayout" Target="/ppt/slideLayouts/slideLayout6.xml" Id="R5f425ae876b84d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50fb5fc3f84380"/>
    <p:sldLayoutId xmlns:r="http://schemas.openxmlformats.org/officeDocument/2006/relationships" id="2147483650" r:id="R42d590809a424fc0"/>
    <p:sldLayoutId xmlns:r="http://schemas.openxmlformats.org/officeDocument/2006/relationships" id="2147483651" r:id="R3acfdac4b75f4cee"/>
    <p:sldLayoutId xmlns:r="http://schemas.openxmlformats.org/officeDocument/2006/relationships" id="2147483652" r:id="R4276adfd479748ea"/>
    <p:sldLayoutId xmlns:r="http://schemas.openxmlformats.org/officeDocument/2006/relationships" id="2147483653" r:id="Rd63b3b26e4ff4243"/>
    <p:sldLayoutId xmlns:r="http://schemas.openxmlformats.org/officeDocument/2006/relationships" id="2147483654" r:id="R5f425ae876b84d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bb03ea568647c1" /><Relationship Type="http://schemas.openxmlformats.org/officeDocument/2006/relationships/notesSlide" Target="/ppt/notesSlides/notesSlide1.xml" Id="R90fcb691982844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0fd272a0aa4521" /><Relationship Type="http://schemas.openxmlformats.org/officeDocument/2006/relationships/notesSlide" Target="/ppt/notesSlides/notesSlide2.xml" Id="R4c63652b93f849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51d2e73f884b50" /><Relationship Type="http://schemas.openxmlformats.org/officeDocument/2006/relationships/notesSlide" Target="/ppt/notesSlides/notesSlide3.xml" Id="R516007cd4fe047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5c7a477e384b2d" /><Relationship Type="http://schemas.openxmlformats.org/officeDocument/2006/relationships/notesSlide" Target="/ppt/notesSlides/notesSlide4.xml" Id="R6b8f90daaeb04b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b9999405914fde" /><Relationship Type="http://schemas.openxmlformats.org/officeDocument/2006/relationships/image" Target="/ppt/media/image.png" Id="R9c69cc0070924cd0" /><Relationship Type="http://schemas.openxmlformats.org/officeDocument/2006/relationships/notesSlide" Target="/ppt/notesSlides/notesSlide5.xml" Id="R7fa7c744457841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ce847c18ab4710" /><Relationship Type="http://schemas.openxmlformats.org/officeDocument/2006/relationships/notesSlide" Target="/ppt/notesSlides/notesSlide6.xml" Id="R302e68c5f21841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dafe78e94e4f7b" /><Relationship Type="http://schemas.openxmlformats.org/officeDocument/2006/relationships/notesSlide" Target="/ppt/notesSlides/notesSlide7.xml" Id="Rf2642480b4ae4e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c2f07cc15aa4374" /><Relationship Type="http://schemas.openxmlformats.org/officeDocument/2006/relationships/notesSlide" Target="/ppt/notesSlides/notesSlide8.xml" Id="R516a039384cd4b8a" /></Relationships>
</file>

<file path=ppt/slides/slide1.xml><?xml version="1.0" encoding="utf-8"?>
<p:sld xmlns:p="http://schemas.openxmlformats.org/presentationml/2006/main">
  <p:cSld>
    <p:bg>
      <p:bgPr>
        <a:solidFill xmlns:a="http://schemas.openxmlformats.org/drawingml/2006/main">
          <a:srgbClr val="142B3D"/>
        </a:solidFill>
      </p:bgPr>
    </p:bg>
    <p:spTree>
      <p:nvGrpSpPr>
        <p:cNvPr id="1" name=""/>
        <p:cNvGrpSpPr/>
        <p:nvPr/>
      </p:nvGrpSpPr>
      <p:grpSpPr>
        <a:xfrm xmlns:a="http://schemas.openxmlformats.org/drawingml/2006/main"/>
      </p:grpSpPr>
      <p:sp>
        <p:nvSpPr>
          <p:cNvPr id="7" name="product">
            <a:extLst xmlns:a="http://schemas.openxmlformats.org/drawingml/2006/main">
              <a:ext uri="{FF2B5EF4-FFF2-40B4-BE49-F238E27FC236}">
                <a16:creationId xmlns:a16="http://schemas.microsoft.com/office/drawing/2014/main" id="{521F17DF-32CB-429D-8055-4C460E021685}"/>
              </a:ext>
            </a:extLst>
          </p:cNvPr>
          <p:cNvSpPr>
            <a:spLocks xmlns:a="http://schemas.openxmlformats.org/drawingml/2006/main" noGrp="1"/>
          </p:cNvSpPr>
          <p:nvPr/>
        </p:nvSpPr>
        <p:spPr>
          <a:xfrm xmlns:a="http://schemas.openxmlformats.org/drawingml/2006/main">
            <a:off x="685800" y="800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FFFFFF"/>
                </a:solidFill>
                <a:latin typeface="Arial"/>
                <a:ea typeface="Arial"/>
                <a:cs typeface="Arial"/>
              </a:defRPr>
            </a:defPPr>
            <a:lvl1pPr algn="l">
              <a:defRPr sz="4575" b="1">
                <a:solidFill>
                  <a:srgbClr val="FFFFFF"/>
                </a:solidFill>
                <a:latin typeface="Arial"/>
                <a:ea typeface="Arial"/>
                <a:cs typeface="Arial"/>
              </a:defRPr>
            </a:lvl1pPr>
            <a:lvl2pPr algn="l">
              <a:defRPr sz="4575" b="1">
                <a:solidFill>
                  <a:srgbClr val="FFFFFF"/>
                </a:solidFill>
                <a:latin typeface="Arial"/>
                <a:ea typeface="Arial"/>
                <a:cs typeface="Arial"/>
              </a:defRPr>
            </a:lvl2pPr>
            <a:lvl3pPr algn="l">
              <a:defRPr sz="4575" b="1">
                <a:solidFill>
                  <a:srgbClr val="FFFFFF"/>
                </a:solidFill>
                <a:latin typeface="Arial"/>
                <a:ea typeface="Arial"/>
                <a:cs typeface="Arial"/>
              </a:defRPr>
            </a:lvl3pPr>
            <a:lvl4pPr algn="l">
              <a:defRPr sz="4575" b="1">
                <a:solidFill>
                  <a:srgbClr val="FFFFFF"/>
                </a:solidFill>
                <a:latin typeface="Arial"/>
                <a:ea typeface="Arial"/>
                <a:cs typeface="Arial"/>
              </a:defRPr>
            </a:lvl4pPr>
            <a:lvl5pPr algn="l">
              <a:defRPr sz="4575" b="1">
                <a:solidFill>
                  <a:srgbClr val="FFFFFF"/>
                </a:solidFill>
                <a:latin typeface="Arial"/>
                <a:ea typeface="Arial"/>
                <a:cs typeface="Arial"/>
              </a:defRPr>
            </a:lvl5pPr>
            <a:lvl6pPr algn="l">
              <a:defRPr sz="4575" b="1">
                <a:solidFill>
                  <a:srgbClr val="FFFFFF"/>
                </a:solidFill>
                <a:latin typeface="Arial"/>
                <a:ea typeface="Arial"/>
                <a:cs typeface="Arial"/>
              </a:defRPr>
            </a:lvl6pPr>
            <a:lvl7pPr algn="l">
              <a:defRPr sz="4575" b="1">
                <a:solidFill>
                  <a:srgbClr val="FFFFFF"/>
                </a:solidFill>
                <a:latin typeface="Arial"/>
                <a:ea typeface="Arial"/>
                <a:cs typeface="Arial"/>
              </a:defRPr>
            </a:lvl7pPr>
            <a:lvl8pPr algn="l">
              <a:defRPr sz="4575" b="1">
                <a:solidFill>
                  <a:srgbClr val="FFFFFF"/>
                </a:solidFill>
                <a:latin typeface="Arial"/>
                <a:ea typeface="Arial"/>
                <a:cs typeface="Arial"/>
              </a:defRPr>
            </a:lvl8pPr>
            <a:lvl9pPr algn="l">
              <a:defRPr sz="4575" b="1">
                <a:solidFill>
                  <a:srgbClr val="FFFFFF"/>
                </a:solidFill>
                <a:latin typeface="Arial"/>
                <a:ea typeface="Arial"/>
                <a:cs typeface="Arial"/>
              </a:defRPr>
            </a:lvl9pPr>
          </a:lstStyle>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YamRail/Code_CLI</a:t>
            </a:r>
          </a:p>
        </p:txBody>
      </p:sp>
      <p:sp>
        <p:nvSpPr>
          <p:cNvPr id="2" name="problem">
            <a:extLst xmlns:a="http://schemas.openxmlformats.org/drawingml/2006/main">
              <a:ext uri="{FF2B5EF4-FFF2-40B4-BE49-F238E27FC236}">
                <a16:creationId xmlns:a16="http://schemas.microsoft.com/office/drawing/2014/main" id="{82F9E16E-C38C-4B9B-B2F9-6D08BD7B7BA7}"/>
              </a:ext>
            </a:extLst>
          </p:cNvPr>
          <p:cNvSpPr>
            <a:spLocks xmlns:a="http://schemas.openxmlformats.org/drawingml/2006/main" noGrp="1"/>
          </p:cNvSpPr>
          <p:nvPr/>
        </p:nvSpPr>
        <p:spPr>
          <a:xfrm xmlns:a="http://schemas.openxmlformats.org/drawingml/2006/main">
            <a:off x="685800" y="212407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An agent handover can lose intent,</a:t>
            </a:r>
          </a:p>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limits, and the source of a claim.</a:t>
            </a:r>
          </a:p>
        </p:txBody>
      </p:sp>
      <p:sp>
        <p:nvSpPr>
          <p:cNvPr id="3" name="outcome">
            <a:extLst xmlns:a="http://schemas.openxmlformats.org/drawingml/2006/main">
              <a:ext uri="{FF2B5EF4-FFF2-40B4-BE49-F238E27FC236}">
                <a16:creationId xmlns:a16="http://schemas.microsoft.com/office/drawing/2014/main" id="{73C6CB63-E186-4072-9B90-943FFDE38028}"/>
              </a:ext>
            </a:extLst>
          </p:cNvPr>
          <p:cNvSpPr>
            <a:spLocks xmlns:a="http://schemas.openxmlformats.org/drawingml/2006/main" noGrp="1"/>
          </p:cNvSpPr>
          <p:nvPr/>
        </p:nvSpPr>
        <p:spPr>
          <a:xfrm xmlns:a="http://schemas.openxmlformats.org/drawingml/2006/main">
            <a:off x="685800" y="39243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5DBE5"/>
                </a:solidFill>
                <a:latin typeface="Arial"/>
                <a:ea typeface="Arial"/>
                <a:cs typeface="Arial"/>
              </a:defRPr>
            </a:defPPr>
            <a:lvl1pPr algn="l">
              <a:defRPr sz="2175" b="0">
                <a:solidFill>
                  <a:srgbClr val="C5DBE5"/>
                </a:solidFill>
                <a:latin typeface="Arial"/>
                <a:ea typeface="Arial"/>
                <a:cs typeface="Arial"/>
              </a:defRPr>
            </a:lvl1pPr>
            <a:lvl2pPr algn="l">
              <a:defRPr sz="2175" b="0">
                <a:solidFill>
                  <a:srgbClr val="C5DBE5"/>
                </a:solidFill>
                <a:latin typeface="Arial"/>
                <a:ea typeface="Arial"/>
                <a:cs typeface="Arial"/>
              </a:defRPr>
            </a:lvl2pPr>
            <a:lvl3pPr algn="l">
              <a:defRPr sz="2175" b="0">
                <a:solidFill>
                  <a:srgbClr val="C5DBE5"/>
                </a:solidFill>
                <a:latin typeface="Arial"/>
                <a:ea typeface="Arial"/>
                <a:cs typeface="Arial"/>
              </a:defRPr>
            </a:lvl3pPr>
            <a:lvl4pPr algn="l">
              <a:defRPr sz="2175" b="0">
                <a:solidFill>
                  <a:srgbClr val="C5DBE5"/>
                </a:solidFill>
                <a:latin typeface="Arial"/>
                <a:ea typeface="Arial"/>
                <a:cs typeface="Arial"/>
              </a:defRPr>
            </a:lvl4pPr>
            <a:lvl5pPr algn="l">
              <a:defRPr sz="2175" b="0">
                <a:solidFill>
                  <a:srgbClr val="C5DBE5"/>
                </a:solidFill>
                <a:latin typeface="Arial"/>
                <a:ea typeface="Arial"/>
                <a:cs typeface="Arial"/>
              </a:defRPr>
            </a:lvl5pPr>
            <a:lvl6pPr algn="l">
              <a:defRPr sz="2175" b="0">
                <a:solidFill>
                  <a:srgbClr val="C5DBE5"/>
                </a:solidFill>
                <a:latin typeface="Arial"/>
                <a:ea typeface="Arial"/>
                <a:cs typeface="Arial"/>
              </a:defRPr>
            </a:lvl6pPr>
            <a:lvl7pPr algn="l">
              <a:defRPr sz="2175" b="0">
                <a:solidFill>
                  <a:srgbClr val="C5DBE5"/>
                </a:solidFill>
                <a:latin typeface="Arial"/>
                <a:ea typeface="Arial"/>
                <a:cs typeface="Arial"/>
              </a:defRPr>
            </a:lvl7pPr>
            <a:lvl8pPr algn="l">
              <a:defRPr sz="2175" b="0">
                <a:solidFill>
                  <a:srgbClr val="C5DBE5"/>
                </a:solidFill>
                <a:latin typeface="Arial"/>
                <a:ea typeface="Arial"/>
                <a:cs typeface="Arial"/>
              </a:defRPr>
            </a:lvl8pPr>
            <a:lvl9pPr algn="l">
              <a:defRPr sz="2175" b="0">
                <a:solidFill>
                  <a:srgbClr val="C5DBE5"/>
                </a:solidFill>
                <a:latin typeface="Arial"/>
                <a:ea typeface="Arial"/>
                <a:cs typeface="Arial"/>
              </a:defRPr>
            </a:lvl9pPr>
          </a:lstStyle>
          <a:p xmlns:a="http://schemas.openxmlformats.org/drawingml/2006/main">
            <a:pPr algn="l">
              <a:defRPr sz="2175" b="0">
                <a:solidFill>
                  <a:srgbClr val="C5DBE5"/>
                </a:solidFill>
                <a:latin typeface="Arial"/>
                <a:ea typeface="Arial"/>
                <a:cs typeface="Arial"/>
              </a:defRPr>
            </a:pPr>
            <a:r>
              <a:rPr sz="2175" b="0">
                <a:solidFill>
                  <a:srgbClr val="C5DBE5"/>
                </a:solidFill>
                <a:latin typeface="Arial"/>
                <a:ea typeface="Arial"/>
                <a:cs typeface="Arial"/>
              </a:rPr>
              <a:t>One transferable CLI for read-only research and bounded code tasks,</a:t>
            </a:r>
          </a:p>
          <a:p xmlns:a="http://schemas.openxmlformats.org/drawingml/2006/main">
            <a:pPr algn="l">
              <a:defRPr sz="2175" b="0">
                <a:solidFill>
                  <a:srgbClr val="C5DBE5"/>
                </a:solidFill>
                <a:latin typeface="Arial"/>
                <a:ea typeface="Arial"/>
                <a:cs typeface="Arial"/>
              </a:defRPr>
            </a:pPr>
            <a:r>
              <a:rPr sz="2175" b="0">
                <a:solidFill>
                  <a:srgbClr val="C5DBE5"/>
                </a:solidFill>
                <a:latin typeface="Arial"/>
                <a:ea typeface="Arial"/>
                <a:cs typeface="Arial"/>
              </a:rPr>
              <a:t>with native WorkLedger evidence and A4 reports.</a:t>
            </a:r>
          </a:p>
        </p:txBody>
      </p:sp>
      <p:sp>
        <p:nvSpPr>
          <p:cNvPr id="4" name="users">
            <a:extLst xmlns:a="http://schemas.openxmlformats.org/drawingml/2006/main">
              <a:ext uri="{FF2B5EF4-FFF2-40B4-BE49-F238E27FC236}">
                <a16:creationId xmlns:a16="http://schemas.microsoft.com/office/drawing/2014/main" id="{6686007B-747E-46F1-9600-C046A58740B4}"/>
              </a:ext>
            </a:extLst>
          </p:cNvPr>
          <p:cNvSpPr>
            <a:spLocks xmlns:a="http://schemas.openxmlformats.org/drawingml/2006/main" noGrp="1"/>
          </p:cNvSpPr>
          <p:nvPr/>
        </p:nvSpPr>
        <p:spPr>
          <a:xfrm xmlns:a="http://schemas.openxmlformats.org/drawingml/2006/main">
            <a:off x="685800" y="5019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5DBE5"/>
                </a:solidFill>
                <a:latin typeface="Arial"/>
                <a:ea typeface="Arial"/>
                <a:cs typeface="Arial"/>
              </a:defRPr>
            </a:defPPr>
            <a:lvl1pPr algn="l">
              <a:defRPr sz="1800" b="0">
                <a:solidFill>
                  <a:srgbClr val="C5DBE5"/>
                </a:solidFill>
                <a:latin typeface="Arial"/>
                <a:ea typeface="Arial"/>
                <a:cs typeface="Arial"/>
              </a:defRPr>
            </a:lvl1pPr>
            <a:lvl2pPr algn="l">
              <a:defRPr sz="1800" b="0">
                <a:solidFill>
                  <a:srgbClr val="C5DBE5"/>
                </a:solidFill>
                <a:latin typeface="Arial"/>
                <a:ea typeface="Arial"/>
                <a:cs typeface="Arial"/>
              </a:defRPr>
            </a:lvl2pPr>
            <a:lvl3pPr algn="l">
              <a:defRPr sz="1800" b="0">
                <a:solidFill>
                  <a:srgbClr val="C5DBE5"/>
                </a:solidFill>
                <a:latin typeface="Arial"/>
                <a:ea typeface="Arial"/>
                <a:cs typeface="Arial"/>
              </a:defRPr>
            </a:lvl3pPr>
            <a:lvl4pPr algn="l">
              <a:defRPr sz="1800" b="0">
                <a:solidFill>
                  <a:srgbClr val="C5DBE5"/>
                </a:solidFill>
                <a:latin typeface="Arial"/>
                <a:ea typeface="Arial"/>
                <a:cs typeface="Arial"/>
              </a:defRPr>
            </a:lvl4pPr>
            <a:lvl5pPr algn="l">
              <a:defRPr sz="1800" b="0">
                <a:solidFill>
                  <a:srgbClr val="C5DBE5"/>
                </a:solidFill>
                <a:latin typeface="Arial"/>
                <a:ea typeface="Arial"/>
                <a:cs typeface="Arial"/>
              </a:defRPr>
            </a:lvl5pPr>
            <a:lvl6pPr algn="l">
              <a:defRPr sz="1800" b="0">
                <a:solidFill>
                  <a:srgbClr val="C5DBE5"/>
                </a:solidFill>
                <a:latin typeface="Arial"/>
                <a:ea typeface="Arial"/>
                <a:cs typeface="Arial"/>
              </a:defRPr>
            </a:lvl6pPr>
            <a:lvl7pPr algn="l">
              <a:defRPr sz="1800" b="0">
                <a:solidFill>
                  <a:srgbClr val="C5DBE5"/>
                </a:solidFill>
                <a:latin typeface="Arial"/>
                <a:ea typeface="Arial"/>
                <a:cs typeface="Arial"/>
              </a:defRPr>
            </a:lvl7pPr>
            <a:lvl8pPr algn="l">
              <a:defRPr sz="1800" b="0">
                <a:solidFill>
                  <a:srgbClr val="C5DBE5"/>
                </a:solidFill>
                <a:latin typeface="Arial"/>
                <a:ea typeface="Arial"/>
                <a:cs typeface="Arial"/>
              </a:defRPr>
            </a:lvl8pPr>
            <a:lvl9pPr algn="l">
              <a:defRPr sz="1800" b="0">
                <a:solidFill>
                  <a:srgbClr val="C5DBE5"/>
                </a:solidFill>
                <a:latin typeface="Arial"/>
                <a:ea typeface="Arial"/>
                <a:cs typeface="Arial"/>
              </a:defRPr>
            </a:lvl9pPr>
          </a:lstStyle>
          <a:p xmlns:a="http://schemas.openxmlformats.org/drawingml/2006/main">
            <a:pPr algn="l">
              <a:defRPr sz="1800" b="0">
                <a:solidFill>
                  <a:srgbClr val="C5DBE5"/>
                </a:solidFill>
                <a:latin typeface="Arial"/>
                <a:ea typeface="Arial"/>
                <a:cs typeface="Arial"/>
              </a:defRPr>
            </a:pPr>
            <a:r>
              <a:rPr sz="1800" b="0">
                <a:solidFill>
                  <a:srgbClr val="C5DBE5"/>
                </a:solidFill>
                <a:latin typeface="Arial"/>
                <a:ea typeface="Arial"/>
                <a:cs typeface="Arial"/>
              </a:rPr>
              <a:t>For authorized technical operators handing off research and coding</a:t>
            </a:r>
          </a:p>
        </p:txBody>
      </p:sp>
      <p:sp>
        <p:nvSpPr>
          <p:cNvPr id="5" name="entry">
            <a:extLst xmlns:a="http://schemas.openxmlformats.org/drawingml/2006/main">
              <a:ext uri="{FF2B5EF4-FFF2-40B4-BE49-F238E27FC236}">
                <a16:creationId xmlns:a16="http://schemas.microsoft.com/office/drawing/2014/main" id="{B41A19BA-C1F5-48A1-89A3-45AC9A03C759}"/>
              </a:ext>
            </a:extLst>
          </p:cNvPr>
          <p:cNvSpPr>
            <a:spLocks xmlns:a="http://schemas.openxmlformats.org/drawingml/2006/main" noGrp="1"/>
          </p:cNvSpPr>
          <p:nvPr/>
        </p:nvSpPr>
        <p:spPr>
          <a:xfrm xmlns:a="http://schemas.openxmlformats.org/drawingml/2006/main">
            <a:off x="685800" y="54673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8FD3D0"/>
                </a:solidFill>
                <a:latin typeface="Arial"/>
                <a:ea typeface="Arial"/>
                <a:cs typeface="Arial"/>
              </a:defRPr>
            </a:defPPr>
            <a:lvl1pPr algn="l">
              <a:defRPr sz="2325" b="1">
                <a:solidFill>
                  <a:srgbClr val="8FD3D0"/>
                </a:solidFill>
                <a:latin typeface="Arial"/>
                <a:ea typeface="Arial"/>
                <a:cs typeface="Arial"/>
              </a:defRPr>
            </a:lvl1pPr>
            <a:lvl2pPr algn="l">
              <a:defRPr sz="2325" b="1">
                <a:solidFill>
                  <a:srgbClr val="8FD3D0"/>
                </a:solidFill>
                <a:latin typeface="Arial"/>
                <a:ea typeface="Arial"/>
                <a:cs typeface="Arial"/>
              </a:defRPr>
            </a:lvl2pPr>
            <a:lvl3pPr algn="l">
              <a:defRPr sz="2325" b="1">
                <a:solidFill>
                  <a:srgbClr val="8FD3D0"/>
                </a:solidFill>
                <a:latin typeface="Arial"/>
                <a:ea typeface="Arial"/>
                <a:cs typeface="Arial"/>
              </a:defRPr>
            </a:lvl3pPr>
            <a:lvl4pPr algn="l">
              <a:defRPr sz="2325" b="1">
                <a:solidFill>
                  <a:srgbClr val="8FD3D0"/>
                </a:solidFill>
                <a:latin typeface="Arial"/>
                <a:ea typeface="Arial"/>
                <a:cs typeface="Arial"/>
              </a:defRPr>
            </a:lvl4pPr>
            <a:lvl5pPr algn="l">
              <a:defRPr sz="2325" b="1">
                <a:solidFill>
                  <a:srgbClr val="8FD3D0"/>
                </a:solidFill>
                <a:latin typeface="Arial"/>
                <a:ea typeface="Arial"/>
                <a:cs typeface="Arial"/>
              </a:defRPr>
            </a:lvl5pPr>
            <a:lvl6pPr algn="l">
              <a:defRPr sz="2325" b="1">
                <a:solidFill>
                  <a:srgbClr val="8FD3D0"/>
                </a:solidFill>
                <a:latin typeface="Arial"/>
                <a:ea typeface="Arial"/>
                <a:cs typeface="Arial"/>
              </a:defRPr>
            </a:lvl6pPr>
            <a:lvl7pPr algn="l">
              <a:defRPr sz="2325" b="1">
                <a:solidFill>
                  <a:srgbClr val="8FD3D0"/>
                </a:solidFill>
                <a:latin typeface="Arial"/>
                <a:ea typeface="Arial"/>
                <a:cs typeface="Arial"/>
              </a:defRPr>
            </a:lvl7pPr>
            <a:lvl8pPr algn="l">
              <a:defRPr sz="2325" b="1">
                <a:solidFill>
                  <a:srgbClr val="8FD3D0"/>
                </a:solidFill>
                <a:latin typeface="Arial"/>
                <a:ea typeface="Arial"/>
                <a:cs typeface="Arial"/>
              </a:defRPr>
            </a:lvl8pPr>
            <a:lvl9pPr algn="l">
              <a:defRPr sz="2325" b="1">
                <a:solidFill>
                  <a:srgbClr val="8FD3D0"/>
                </a:solidFill>
                <a:latin typeface="Arial"/>
                <a:ea typeface="Arial"/>
                <a:cs typeface="Arial"/>
              </a:defRPr>
            </a:lvl9pPr>
          </a:lstStyle>
          <a:p xmlns:a="http://schemas.openxmlformats.org/drawingml/2006/main">
            <a:pPr algn="l">
              <a:defRPr sz="2325" b="1">
                <a:solidFill>
                  <a:srgbClr val="8FD3D0"/>
                </a:solidFill>
                <a:latin typeface="Arial"/>
                <a:ea typeface="Arial"/>
                <a:cs typeface="Arial"/>
              </a:defRPr>
            </a:pPr>
            <a:r>
              <a:rPr sz="2325" b="1">
                <a:solidFill>
                  <a:srgbClr val="8FD3D0"/>
                </a:solidFill>
                <a:latin typeface="Arial"/>
                <a:ea typeface="Arial"/>
                <a:cs typeface="Arial"/>
              </a:rPr>
              <a:t>yr-code demo --evidence-mode replay</a:t>
            </a:r>
          </a:p>
        </p:txBody>
      </p:sp>
      <p:sp>
        <p:nvSpPr>
          <p:cNvPr id="6" name="class">
            <a:extLst xmlns:a="http://schemas.openxmlformats.org/drawingml/2006/main">
              <a:ext uri="{FF2B5EF4-FFF2-40B4-BE49-F238E27FC236}">
                <a16:creationId xmlns:a16="http://schemas.microsoft.com/office/drawing/2014/main" id="{21A2D4FC-0323-4F04-A3B0-52E4C63A362B}"/>
              </a:ext>
            </a:extLst>
          </p:cNvPr>
          <p:cNvSpPr>
            <a:spLocks xmlns:a="http://schemas.openxmlformats.org/drawingml/2006/main" noGrp="1"/>
          </p:cNvSpPr>
          <p:nvPr/>
        </p:nvSpPr>
        <p:spPr>
          <a:xfrm xmlns:a="http://schemas.openxmlformats.org/drawingml/2006/main">
            <a:off x="685800" y="60674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8FD3D0"/>
                </a:solidFill>
                <a:latin typeface="Arial"/>
                <a:ea typeface="Arial"/>
                <a:cs typeface="Arial"/>
              </a:defRPr>
            </a:defPPr>
            <a:lvl1pPr algn="l">
              <a:defRPr sz="1650" b="0">
                <a:solidFill>
                  <a:srgbClr val="8FD3D0"/>
                </a:solidFill>
                <a:latin typeface="Arial"/>
                <a:ea typeface="Arial"/>
                <a:cs typeface="Arial"/>
              </a:defRPr>
            </a:lvl1pPr>
            <a:lvl2pPr algn="l">
              <a:defRPr sz="1650" b="0">
                <a:solidFill>
                  <a:srgbClr val="8FD3D0"/>
                </a:solidFill>
                <a:latin typeface="Arial"/>
                <a:ea typeface="Arial"/>
                <a:cs typeface="Arial"/>
              </a:defRPr>
            </a:lvl2pPr>
            <a:lvl3pPr algn="l">
              <a:defRPr sz="1650" b="0">
                <a:solidFill>
                  <a:srgbClr val="8FD3D0"/>
                </a:solidFill>
                <a:latin typeface="Arial"/>
                <a:ea typeface="Arial"/>
                <a:cs typeface="Arial"/>
              </a:defRPr>
            </a:lvl3pPr>
            <a:lvl4pPr algn="l">
              <a:defRPr sz="1650" b="0">
                <a:solidFill>
                  <a:srgbClr val="8FD3D0"/>
                </a:solidFill>
                <a:latin typeface="Arial"/>
                <a:ea typeface="Arial"/>
                <a:cs typeface="Arial"/>
              </a:defRPr>
            </a:lvl4pPr>
            <a:lvl5pPr algn="l">
              <a:defRPr sz="1650" b="0">
                <a:solidFill>
                  <a:srgbClr val="8FD3D0"/>
                </a:solidFill>
                <a:latin typeface="Arial"/>
                <a:ea typeface="Arial"/>
                <a:cs typeface="Arial"/>
              </a:defRPr>
            </a:lvl5pPr>
            <a:lvl6pPr algn="l">
              <a:defRPr sz="1650" b="0">
                <a:solidFill>
                  <a:srgbClr val="8FD3D0"/>
                </a:solidFill>
                <a:latin typeface="Arial"/>
                <a:ea typeface="Arial"/>
                <a:cs typeface="Arial"/>
              </a:defRPr>
            </a:lvl6pPr>
            <a:lvl7pPr algn="l">
              <a:defRPr sz="1650" b="0">
                <a:solidFill>
                  <a:srgbClr val="8FD3D0"/>
                </a:solidFill>
                <a:latin typeface="Arial"/>
                <a:ea typeface="Arial"/>
                <a:cs typeface="Arial"/>
              </a:defRPr>
            </a:lvl7pPr>
            <a:lvl8pPr algn="l">
              <a:defRPr sz="1650" b="0">
                <a:solidFill>
                  <a:srgbClr val="8FD3D0"/>
                </a:solidFill>
                <a:latin typeface="Arial"/>
                <a:ea typeface="Arial"/>
                <a:cs typeface="Arial"/>
              </a:defRPr>
            </a:lvl8pPr>
            <a:lvl9pPr algn="l">
              <a:defRPr sz="1650" b="0">
                <a:solidFill>
                  <a:srgbClr val="8FD3D0"/>
                </a:solidFill>
                <a:latin typeface="Arial"/>
                <a:ea typeface="Arial"/>
                <a:cs typeface="Arial"/>
              </a:defRPr>
            </a:lvl9pPr>
          </a:lstStyle>
          <a:p xmlns:a="http://schemas.openxmlformats.org/drawingml/2006/main">
            <a:pPr algn="l">
              <a:defRPr sz="1650" b="0">
                <a:solidFill>
                  <a:srgbClr val="8FD3D0"/>
                </a:solidFill>
                <a:latin typeface="Arial"/>
                <a:ea typeface="Arial"/>
                <a:cs typeface="Arial"/>
              </a:defRPr>
            </a:pPr>
            <a:r>
              <a:rPr sz="1650" b="0">
                <a:solidFill>
                  <a:srgbClr val="8FD3D0"/>
                </a:solidFill>
                <a:latin typeface="Arial"/>
                <a:ea typeface="Arial"/>
                <a:cs typeface="Arial"/>
              </a:rPr>
              <a:t>LOCAL_EXECUTED with SYNTHETIC_FIXTURE inputs</a:t>
            </a:r>
          </a:p>
        </p:txBody>
      </p:sp>
    </p:spTree>
    <p:extLst>
      <p:ext uri="{BB962C8B-B14F-4D97-AF65-F5344CB8AC3E}">
        <p14:creationId xmlns:p14="http://schemas.microsoft.com/office/powerpoint/2010/main" val="1576676445"/>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2186174-5CA8-41CE-8F10-BD9DD7A70EE5}"/>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One command surface, visible evidence</a:t>
            </a:r>
          </a:p>
        </p:txBody>
      </p:sp>
      <p:sp>
        <p:nvSpPr>
          <p:cNvPr id="2" name="subtitle">
            <a:extLst xmlns:a="http://schemas.openxmlformats.org/drawingml/2006/main">
              <a:ext uri="{FF2B5EF4-FFF2-40B4-BE49-F238E27FC236}">
                <a16:creationId xmlns:a16="http://schemas.microsoft.com/office/drawing/2014/main" id="{BFEAA156-8D5C-4F70-B1EF-5D1CB5A5FE42}"/>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The same package exposes environment checks, bounded work and independent readback.</a:t>
            </a:r>
          </a:p>
        </p:txBody>
      </p:sp>
      <p:sp>
        <p:nvSpPr>
          <p:cNvPr id="3" name="page">
            <a:extLst xmlns:a="http://schemas.openxmlformats.org/drawingml/2006/main">
              <a:ext uri="{FF2B5EF4-FFF2-40B4-BE49-F238E27FC236}">
                <a16:creationId xmlns:a16="http://schemas.microsoft.com/office/drawing/2014/main" id="{089476A5-AFF5-4B02-905D-D6265D627D00}"/>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73E3E893-7491-43EB-9308-EA0F0BAAB1CE}"/>
              </a:ext>
            </a:extLst>
          </p:cNvPr>
          <p:cNvGraphicFramePr/>
          <p:nvPr/>
        </p:nvGraphicFramePr>
        <p:xfrm>
          <a:off xmlns:a="http://schemas.openxmlformats.org/drawingml/2006/main" x="685800" y="2114550"/>
          <a:ext xmlns:a="http://schemas.openxmlformats.org/drawingml/2006/main" cx="10820400" cy="3914775"/>
        </p:xfrm>
        <a:graphic xmlns:a="http://schemas.openxmlformats.org/drawingml/2006/main">
          <a:graphicData uri="http://schemas.openxmlformats.org/drawingml/2006/table">
            <a:tbl>
              <a:tblPr firstRow="1" bandRow="0"/>
              <a:tblGrid>
                <a:gridCol w="5638800"/>
                <a:gridCol w="5181600"/>
              </a:tblGrid>
              <a:tr h="485775">
                <a:tc>
                  <a:txBody>
                    <a:bodyPr wrap="square" lIns="123825" tIns="76200" rIns="123825" bIns="76200">
                      <a:noAutofit/>
                    </a:bodyPr>
                    <a:lstStyle/>
                    <a:p>
                      <a:pPr algn="l"/>
                      <a:r>
                        <a:rPr sz="1725" b="1">
                          <a:solidFill>
                            <a:srgbClr val="FFFFFF"/>
                          </a:solidFill>
                          <a:latin typeface="Arial"/>
                          <a:ea typeface="Arial"/>
                          <a:cs typeface="Arial"/>
                        </a:rPr>
                        <a:t>Command</a:t>
                      </a:r>
                    </a:p>
                  </a:txBody>
                  <a:tcPr marL="91440" marR="91440" marT="45720" marB="45720" anchor="ctr">
                    <a:lnL w="9525">
                      <a:solidFill>
                        <a:srgbClr val="CDD8DE"/>
                      </a:solidFill>
                      <a:prstDash val="solid"/>
                    </a:lnL>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c>
                  <a:txBody>
                    <a:bodyPr wrap="square" lIns="123825" tIns="76200" rIns="123825" bIns="76200">
                      <a:noAutofit/>
                    </a:bodyPr>
                    <a:lstStyle/>
                    <a:p>
                      <a:pPr algn="l"/>
                      <a:r>
                        <a:rPr sz="1725" b="1">
                          <a:solidFill>
                            <a:srgbClr val="FFFFFF"/>
                          </a:solidFill>
                          <a:latin typeface="Arial"/>
                          <a:ea typeface="Arial"/>
                          <a:cs typeface="Arial"/>
                        </a:rPr>
                        <a:t>Observed result</a:t>
                      </a:r>
                    </a:p>
                  </a:txBody>
                  <a:tcPr marL="91440" marR="91440" marT="45720" marB="45720" anchor="ctr">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r>
              <a:tr h="685800">
                <a:tc>
                  <a:txBody>
                    <a:bodyPr wrap="square" lIns="123825" tIns="76200" rIns="123825" bIns="76200">
                      <a:noAutofit/>
                    </a:bodyPr>
                    <a:lstStyle/>
                    <a:p>
                      <a:pPr algn="l"/>
                      <a:r>
                        <a:rPr sz="1725" b="0">
                          <a:solidFill>
                            <a:srgbClr val="142B3D"/>
                          </a:solidFill>
                          <a:latin typeface="Arial"/>
                          <a:ea typeface="Arial"/>
                          <a:cs typeface="Arial"/>
                        </a:rPr>
                        <a:t>yr-code doctor --format json</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Python 3.12.10 / Windows 11; no provider invocation</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685800">
                <a:tc>
                  <a:txBody>
                    <a:bodyPr wrap="square" lIns="123825" tIns="76200" rIns="123825" bIns="76200">
                      <a:noAutofit/>
                    </a:bodyPr>
                    <a:lstStyle/>
                    <a:p>
                      <a:pPr algn="l"/>
                      <a:r>
                        <a:rPr sz="1725" b="0">
                          <a:solidFill>
                            <a:srgbClr val="142B3D"/>
                          </a:solidFill>
                          <a:latin typeface="Arial"/>
                          <a:ea typeface="Arial"/>
                          <a:cs typeface="Arial"/>
                        </a:rPr>
                        <a:t>yr-code demo --evidence-mode replay --format json</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12 / 12 scoped checks; no new model generation</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685800">
                <a:tc>
                  <a:txBody>
                    <a:bodyPr wrap="square" lIns="123825" tIns="76200" rIns="123825" bIns="76200">
                      <a:noAutofit/>
                    </a:bodyPr>
                    <a:lstStyle/>
                    <a:p>
                      <a:pPr algn="l"/>
                      <a:r>
                        <a:rPr sz="1725" b="0">
                          <a:solidFill>
                            <a:srgbClr val="142B3D"/>
                          </a:solidFill>
                          <a:latin typeface="Arial"/>
                          <a:ea typeface="Arial"/>
                          <a:cs typeface="Arial"/>
                        </a:rPr>
                        <a:t>yr-code recon local --root fixtures/safe_public_or_synthetic --format json</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Three fixture files read; target not executed</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685800">
                <a:tc>
                  <a:txBody>
                    <a:bodyPr wrap="square" lIns="123825" tIns="76200" rIns="123825" bIns="76200">
                      <a:noAutofit/>
                    </a:bodyPr>
                    <a:lstStyle/>
                    <a:p>
                      <a:pPr algn="l"/>
                      <a:r>
                        <a:rPr sz="1725" b="0">
                          <a:solidFill>
                            <a:srgbClr val="142B3D"/>
                          </a:solidFill>
                          <a:latin typeface="Arial"/>
                          <a:ea typeface="Arial"/>
                          <a:cs typeface="Arial"/>
                        </a:rPr>
                        <a:t>yr-code evidence verify</a:t>
                      </a:r>
                    </a:p>
                    <a:p>
                      <a:pPr algn="l"/>
                      <a:r>
                        <a:rPr sz="1725" b="0">
                          <a:solidFill>
                            <a:srgbClr val="142B3D"/>
                          </a:solidFill>
                          <a:latin typeface="Arial"/>
                          <a:ea typeface="Arial"/>
                          <a:cs typeface="Arial"/>
                        </a:rPr>
                        <a:t>--manifest MANIFEST.json</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Captured byte-verification scope: PASS</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685800">
                <a:tc>
                  <a:txBody>
                    <a:bodyPr wrap="square" lIns="123825" tIns="76200" rIns="123825" bIns="76200">
                      <a:noAutofit/>
                    </a:bodyPr>
                    <a:lstStyle/>
                    <a:p>
                      <a:pPr algn="l"/>
                      <a:r>
                        <a:rPr sz="1725" b="0">
                          <a:solidFill>
                            <a:srgbClr val="142B3D"/>
                          </a:solidFill>
                          <a:latin typeface="Arial"/>
                          <a:ea typeface="Arial"/>
                          <a:cs typeface="Arial"/>
                        </a:rPr>
                        <a:t>yr-code status --format json</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Native durable readback: PASS</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bl>
          </a:graphicData>
        </a:graphic>
      </p:graphicFrame>
      <p:sp>
        <p:nvSpPr>
          <p:cNvPr id="5" name="boundary">
            <a:extLst xmlns:a="http://schemas.openxmlformats.org/drawingml/2006/main">
              <a:ext uri="{FF2B5EF4-FFF2-40B4-BE49-F238E27FC236}">
                <a16:creationId xmlns:a16="http://schemas.microsoft.com/office/drawing/2014/main" id="{EDF6CDB9-C97D-4B33-9C99-3FB7FC957B17}"/>
              </a:ext>
            </a:extLst>
          </p:cNvPr>
          <p:cNvSpPr>
            <a:spLocks xmlns:a="http://schemas.openxmlformats.org/drawingml/2006/main" noGrp="1"/>
          </p:cNvSpPr>
          <p:nvPr/>
        </p:nvSpPr>
        <p:spPr>
          <a:xfrm xmlns:a="http://schemas.openxmlformats.org/drawingml/2006/main">
            <a:off x="685800" y="616267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E6575"/>
                </a:solidFill>
                <a:latin typeface="Arial"/>
                <a:ea typeface="Arial"/>
                <a:cs typeface="Arial"/>
              </a:defRPr>
            </a:defPPr>
            <a:lvl1pPr algn="l">
              <a:defRPr sz="1725" b="0">
                <a:solidFill>
                  <a:srgbClr val="4E6575"/>
                </a:solidFill>
                <a:latin typeface="Arial"/>
                <a:ea typeface="Arial"/>
                <a:cs typeface="Arial"/>
              </a:defRPr>
            </a:lvl1pPr>
            <a:lvl2pPr algn="l">
              <a:defRPr sz="1725" b="0">
                <a:solidFill>
                  <a:srgbClr val="4E6575"/>
                </a:solidFill>
                <a:latin typeface="Arial"/>
                <a:ea typeface="Arial"/>
                <a:cs typeface="Arial"/>
              </a:defRPr>
            </a:lvl2pPr>
            <a:lvl3pPr algn="l">
              <a:defRPr sz="1725" b="0">
                <a:solidFill>
                  <a:srgbClr val="4E6575"/>
                </a:solidFill>
                <a:latin typeface="Arial"/>
                <a:ea typeface="Arial"/>
                <a:cs typeface="Arial"/>
              </a:defRPr>
            </a:lvl3pPr>
            <a:lvl4pPr algn="l">
              <a:defRPr sz="1725" b="0">
                <a:solidFill>
                  <a:srgbClr val="4E6575"/>
                </a:solidFill>
                <a:latin typeface="Arial"/>
                <a:ea typeface="Arial"/>
                <a:cs typeface="Arial"/>
              </a:defRPr>
            </a:lvl4pPr>
            <a:lvl5pPr algn="l">
              <a:defRPr sz="1725" b="0">
                <a:solidFill>
                  <a:srgbClr val="4E6575"/>
                </a:solidFill>
                <a:latin typeface="Arial"/>
                <a:ea typeface="Arial"/>
                <a:cs typeface="Arial"/>
              </a:defRPr>
            </a:lvl5pPr>
            <a:lvl6pPr algn="l">
              <a:defRPr sz="1725" b="0">
                <a:solidFill>
                  <a:srgbClr val="4E6575"/>
                </a:solidFill>
                <a:latin typeface="Arial"/>
                <a:ea typeface="Arial"/>
                <a:cs typeface="Arial"/>
              </a:defRPr>
            </a:lvl6pPr>
            <a:lvl7pPr algn="l">
              <a:defRPr sz="1725" b="0">
                <a:solidFill>
                  <a:srgbClr val="4E6575"/>
                </a:solidFill>
                <a:latin typeface="Arial"/>
                <a:ea typeface="Arial"/>
                <a:cs typeface="Arial"/>
              </a:defRPr>
            </a:lvl7pPr>
            <a:lvl8pPr algn="l">
              <a:defRPr sz="1725" b="0">
                <a:solidFill>
                  <a:srgbClr val="4E6575"/>
                </a:solidFill>
                <a:latin typeface="Arial"/>
                <a:ea typeface="Arial"/>
                <a:cs typeface="Arial"/>
              </a:defRPr>
            </a:lvl8pPr>
            <a:lvl9pPr algn="l">
              <a:defRPr sz="1725" b="0">
                <a:solidFill>
                  <a:srgbClr val="4E6575"/>
                </a:solidFill>
                <a:latin typeface="Arial"/>
                <a:ea typeface="Arial"/>
                <a:cs typeface="Arial"/>
              </a:defRPr>
            </a:lvl9pPr>
          </a:lstStyle>
          <a:p xmlns:a="http://schemas.openxmlformats.org/drawingml/2006/main">
            <a:pPr algn="l">
              <a:defRPr sz="1725" b="0">
                <a:solidFill>
                  <a:srgbClr val="4E6575"/>
                </a:solidFill>
                <a:latin typeface="Arial"/>
                <a:ea typeface="Arial"/>
                <a:cs typeface="Arial"/>
              </a:defRPr>
            </a:pPr>
            <a:r>
              <a:rPr sz="1725" b="0">
                <a:solidFill>
                  <a:srgbClr val="4E6575"/>
                </a:solidFill>
                <a:latin typeface="Arial"/>
                <a:ea typeface="Arial"/>
                <a:cs typeface="Arial"/>
              </a:rPr>
              <a:t>Local fixtures stay labelled synthetic; unavailable dependencies stay on HOLD.</a:t>
            </a:r>
          </a:p>
        </p:txBody>
      </p:sp>
    </p:spTree>
    <p:extLst>
      <p:ext uri="{BB962C8B-B14F-4D97-AF65-F5344CB8AC3E}">
        <p14:creationId xmlns:p14="http://schemas.microsoft.com/office/powerpoint/2010/main" val="1572625591"/>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0F080484-1453-4EB3-B54C-EB8DC23DD6CB}"/>
              </a:ext>
            </a:extLst>
          </p:cNvPr>
          <p:cNvCxnSpPr>
            <a:stCxn xmlns:a="http://schemas.openxmlformats.org/drawingml/2006/main" id="6" idx="2"/>
            <a:endCxn xmlns:a="http://schemas.openxmlformats.org/drawingml/2006/main" id="9" idx="0"/>
          </p:cNvCxnSpPr>
          <p:nvPr/>
        </p:nvCxnSpPr>
        <p:spPr>
          <a:xfrm xmlns:a="http://schemas.openxmlformats.org/drawingml/2006/main" flipH="1">
            <a:off x="6096000" y="3133725"/>
            <a:ext cx="4086225" cy="933450"/>
          </a:xfrm>
          <a:prstGeom xmlns:a="http://schemas.openxmlformats.org/drawingml/2006/main" prst="bentConnector4">
            <a:avLst>
              <a:gd name="adj1" fmla="val 0"/>
              <a:gd name="adj2" fmla="val 50000"/>
            </a:avLst>
          </a:prstGeom>
          <a:ln xmlns:a="http://schemas.openxmlformats.org/drawingml/2006/main" w="23813">
            <a:solidFill>
              <a:srgbClr val="165C7D"/>
            </a:solidFill>
            <a:tailEnd type="triangle" w="sm" len="sm"/>
          </a:ln>
        </p:spPr>
      </p:cxnSp>
      <p:cxnSp>
        <p:nvCxnSpPr>
          <p:cNvPr id="10" name="">
            <a:extLst xmlns:a="http://schemas.openxmlformats.org/drawingml/2006/main">
              <a:ext uri="{FF2B5EF4-FFF2-40B4-BE49-F238E27FC236}">
                <a16:creationId xmlns:a16="http://schemas.microsoft.com/office/drawing/2014/main" id="{5C9B3BD0-E547-4AD3-9E7D-B9F22083C5A7}"/>
              </a:ext>
            </a:extLst>
          </p:cNvPr>
          <p:cNvCxnSpPr>
            <a:stCxn xmlns:a="http://schemas.openxmlformats.org/drawingml/2006/main" id="5" idx="2"/>
            <a:endCxn xmlns:a="http://schemas.openxmlformats.org/drawingml/2006/main" id="9" idx="0"/>
          </p:cNvCxnSpPr>
          <p:nvPr/>
        </p:nvCxnSpPr>
        <p:spPr>
          <a:xfrm xmlns:a="http://schemas.openxmlformats.org/drawingml/2006/main" flipH="1">
            <a:off x="6096000" y="3133725"/>
            <a:ext cx="4763" cy="933450"/>
          </a:xfrm>
          <a:prstGeom xmlns:a="http://schemas.openxmlformats.org/drawingml/2006/main" prst="bentConnector4">
            <a:avLst>
              <a:gd name="adj1" fmla="val 0"/>
              <a:gd name="adj2" fmla="val 50000"/>
            </a:avLst>
          </a:prstGeom>
          <a:ln xmlns:a="http://schemas.openxmlformats.org/drawingml/2006/main" w="23813">
            <a:solidFill>
              <a:srgbClr val="165C7D"/>
            </a:solidFill>
            <a:tailEnd type="triangle" w="sm" len="sm"/>
          </a:ln>
        </p:spPr>
      </p:cxnSp>
      <p:cxnSp>
        <p:nvCxnSpPr>
          <p:cNvPr id="8" name="">
            <a:extLst xmlns:a="http://schemas.openxmlformats.org/drawingml/2006/main">
              <a:ext uri="{FF2B5EF4-FFF2-40B4-BE49-F238E27FC236}">
                <a16:creationId xmlns:a16="http://schemas.microsoft.com/office/drawing/2014/main" id="{8680BD4C-E43F-4F82-B9F8-8187BE7C6CC8}"/>
              </a:ext>
            </a:extLst>
          </p:cNvPr>
          <p:cNvCxnSpPr>
            <a:stCxn xmlns:a="http://schemas.openxmlformats.org/drawingml/2006/main" id="5" idx="3"/>
            <a:endCxn xmlns:a="http://schemas.openxmlformats.org/drawingml/2006/main" id="6" idx="1"/>
          </p:cNvCxnSpPr>
          <p:nvPr/>
        </p:nvCxnSpPr>
        <p:spPr>
          <a:xfrm xmlns:a="http://schemas.openxmlformats.org/drawingml/2006/main">
            <a:off x="7429500" y="2638425"/>
            <a:ext cx="1428750" cy="0"/>
          </a:xfrm>
          <a:prstGeom xmlns:a="http://schemas.openxmlformats.org/drawingml/2006/main" prst="straightConnector1">
            <a:avLst/>
          </a:prstGeom>
          <a:ln xmlns:a="http://schemas.openxmlformats.org/drawingml/2006/main" w="23813">
            <a:solidFill>
              <a:srgbClr val="165C7D"/>
            </a:solidFill>
            <a:tailEnd type="triangle" w="sm" len="sm"/>
          </a:ln>
        </p:spPr>
      </p:cxnSp>
      <p:cxnSp>
        <p:nvCxnSpPr>
          <p:cNvPr id="7" name="">
            <a:extLst xmlns:a="http://schemas.openxmlformats.org/drawingml/2006/main">
              <a:ext uri="{FF2B5EF4-FFF2-40B4-BE49-F238E27FC236}">
                <a16:creationId xmlns:a16="http://schemas.microsoft.com/office/drawing/2014/main" id="{42857C1F-404D-4EBD-930C-809E8BA0E8C8}"/>
              </a:ext>
            </a:extLst>
          </p:cNvPr>
          <p:cNvCxnSpPr>
            <a:stCxn xmlns:a="http://schemas.openxmlformats.org/drawingml/2006/main" id="4" idx="3"/>
            <a:endCxn xmlns:a="http://schemas.openxmlformats.org/drawingml/2006/main" id="5" idx="1"/>
          </p:cNvCxnSpPr>
          <p:nvPr/>
        </p:nvCxnSpPr>
        <p:spPr>
          <a:xfrm xmlns:a="http://schemas.openxmlformats.org/drawingml/2006/main">
            <a:off x="3343275" y="2638425"/>
            <a:ext cx="1428750" cy="0"/>
          </a:xfrm>
          <a:prstGeom xmlns:a="http://schemas.openxmlformats.org/drawingml/2006/main" prst="straightConnector1">
            <a:avLst/>
          </a:prstGeom>
          <a:ln xmlns:a="http://schemas.openxmlformats.org/drawingml/2006/main" w="23813">
            <a:solidFill>
              <a:srgbClr val="165C7D"/>
            </a:solidFill>
            <a:tailEnd type="triangle" w="sm" len="sm"/>
          </a:ln>
        </p:spPr>
      </p:cxnSp>
      <p:sp>
        <p:nvSpPr>
          <p:cNvPr id="13" name="title">
            <a:extLst xmlns:a="http://schemas.openxmlformats.org/drawingml/2006/main">
              <a:ext uri="{FF2B5EF4-FFF2-40B4-BE49-F238E27FC236}">
                <a16:creationId xmlns:a16="http://schemas.microsoft.com/office/drawing/2014/main" id="{8C9275F8-6F7D-458E-9967-1CF37BE1A834}"/>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Portable supervisor and the existing native ledger</a:t>
            </a:r>
          </a:p>
        </p:txBody>
      </p:sp>
      <p:sp>
        <p:nvSpPr>
          <p:cNvPr id="2" name="subtitle">
            <a:extLst xmlns:a="http://schemas.openxmlformats.org/drawingml/2006/main">
              <a:ext uri="{FF2B5EF4-FFF2-40B4-BE49-F238E27FC236}">
                <a16:creationId xmlns:a16="http://schemas.microsoft.com/office/drawing/2014/main" id="{D6F6FE11-75F6-4E9F-A383-F4C378617383}"/>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The CLI binds bounded work to native stages, root limits and captured bytes.</a:t>
            </a:r>
          </a:p>
        </p:txBody>
      </p:sp>
      <p:sp>
        <p:nvSpPr>
          <p:cNvPr id="3" name="page">
            <a:extLst xmlns:a="http://schemas.openxmlformats.org/drawingml/2006/main">
              <a:ext uri="{FF2B5EF4-FFF2-40B4-BE49-F238E27FC236}">
                <a16:creationId xmlns:a16="http://schemas.microsoft.com/office/drawing/2014/main" id="{20A62CE1-A5D1-4D7D-A673-471F9A76B4C7}"/>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03</a:t>
            </a:r>
          </a:p>
        </p:txBody>
      </p:sp>
      <p:sp>
        <p:nvSpPr>
          <p:cNvPr id="4" name="input">
            <a:extLst xmlns:a="http://schemas.openxmlformats.org/drawingml/2006/main">
              <a:ext uri="{FF2B5EF4-FFF2-40B4-BE49-F238E27FC236}">
                <a16:creationId xmlns:a16="http://schemas.microsoft.com/office/drawing/2014/main" id="{C7CCBFA2-3D28-4178-BA11-7BE85EBB3A71}"/>
              </a:ext>
            </a:extLst>
          </p:cNvPr>
          <p:cNvSpPr>
            <a:spLocks xmlns:a="http://schemas.openxmlformats.org/drawingml/2006/main" noGrp="1"/>
          </p:cNvSpPr>
          <p:nvPr/>
        </p:nvSpPr>
        <p:spPr>
          <a:xfrm xmlns:a="http://schemas.openxmlformats.org/drawingml/2006/main">
            <a:off x="685800" y="2143125"/>
            <a:ext cx="2657475" cy="990600"/>
          </a:xfrm>
          <a:prstGeom xmlns:a="http://schemas.openxmlformats.org/drawingml/2006/main" prst="rect">
            <a:avLst/>
          </a:prstGeom>
          <a:solidFill xmlns:a="http://schemas.openxmlformats.org/drawingml/2006/main">
            <a:srgbClr val="FFFFFF"/>
          </a:solidFill>
          <a:ln xmlns:a="http://schemas.openxmlformats.org/drawingml/2006/main" w="15240">
            <a:solidFill>
              <a:srgbClr val="165C7D"/>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142B3D"/>
                </a:solidFill>
                <a:latin typeface="Arial"/>
                <a:ea typeface="Arial"/>
                <a:cs typeface="Arial"/>
              </a:defRPr>
            </a:defPPr>
            <a:lvl1pPr algn="ctr">
              <a:defRPr sz="1875">
                <a:solidFill>
                  <a:srgbClr val="142B3D"/>
                </a:solidFill>
                <a:latin typeface="Arial"/>
                <a:ea typeface="Arial"/>
                <a:cs typeface="Arial"/>
              </a:defRPr>
            </a:lvl1pPr>
            <a:lvl2pPr algn="ctr">
              <a:defRPr sz="1875">
                <a:solidFill>
                  <a:srgbClr val="142B3D"/>
                </a:solidFill>
                <a:latin typeface="Arial"/>
                <a:ea typeface="Arial"/>
                <a:cs typeface="Arial"/>
              </a:defRPr>
            </a:lvl2pPr>
            <a:lvl3pPr algn="ctr">
              <a:defRPr sz="1875">
                <a:solidFill>
                  <a:srgbClr val="142B3D"/>
                </a:solidFill>
                <a:latin typeface="Arial"/>
                <a:ea typeface="Arial"/>
                <a:cs typeface="Arial"/>
              </a:defRPr>
            </a:lvl3pPr>
            <a:lvl4pPr algn="ctr">
              <a:defRPr sz="1875">
                <a:solidFill>
                  <a:srgbClr val="142B3D"/>
                </a:solidFill>
                <a:latin typeface="Arial"/>
                <a:ea typeface="Arial"/>
                <a:cs typeface="Arial"/>
              </a:defRPr>
            </a:lvl4pPr>
            <a:lvl5pPr algn="ctr">
              <a:defRPr sz="1875">
                <a:solidFill>
                  <a:srgbClr val="142B3D"/>
                </a:solidFill>
                <a:latin typeface="Arial"/>
                <a:ea typeface="Arial"/>
                <a:cs typeface="Arial"/>
              </a:defRPr>
            </a:lvl5pPr>
            <a:lvl6pPr algn="ctr">
              <a:defRPr sz="1875">
                <a:solidFill>
                  <a:srgbClr val="142B3D"/>
                </a:solidFill>
                <a:latin typeface="Arial"/>
                <a:ea typeface="Arial"/>
                <a:cs typeface="Arial"/>
              </a:defRPr>
            </a:lvl6pPr>
            <a:lvl7pPr algn="ctr">
              <a:defRPr sz="1875">
                <a:solidFill>
                  <a:srgbClr val="142B3D"/>
                </a:solidFill>
                <a:latin typeface="Arial"/>
                <a:ea typeface="Arial"/>
                <a:cs typeface="Arial"/>
              </a:defRPr>
            </a:lvl7pPr>
            <a:lvl8pPr algn="ctr">
              <a:defRPr sz="1875">
                <a:solidFill>
                  <a:srgbClr val="142B3D"/>
                </a:solidFill>
                <a:latin typeface="Arial"/>
                <a:ea typeface="Arial"/>
                <a:cs typeface="Arial"/>
              </a:defRPr>
            </a:lvl8pPr>
            <a:lvl9pPr algn="ctr">
              <a:defRPr sz="1875">
                <a:solidFill>
                  <a:srgbClr val="142B3D"/>
                </a:solidFill>
                <a:latin typeface="Arial"/>
                <a:ea typeface="Arial"/>
                <a:cs typeface="Arial"/>
              </a:defRPr>
            </a:lvl9pPr>
          </a:lstStyle>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WORK_ORDER</a:t>
            </a:r>
          </a:p>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Safe local fixture</a:t>
            </a:r>
          </a:p>
        </p:txBody>
      </p:sp>
      <p:sp>
        <p:nvSpPr>
          <p:cNvPr id="5" name="cli">
            <a:extLst xmlns:a="http://schemas.openxmlformats.org/drawingml/2006/main">
              <a:ext uri="{FF2B5EF4-FFF2-40B4-BE49-F238E27FC236}">
                <a16:creationId xmlns:a16="http://schemas.microsoft.com/office/drawing/2014/main" id="{9BD1E848-EA49-4B2C-AD5B-545792EF78D7}"/>
              </a:ext>
            </a:extLst>
          </p:cNvPr>
          <p:cNvSpPr>
            <a:spLocks xmlns:a="http://schemas.openxmlformats.org/drawingml/2006/main" noGrp="1"/>
          </p:cNvSpPr>
          <p:nvPr/>
        </p:nvSpPr>
        <p:spPr>
          <a:xfrm xmlns:a="http://schemas.openxmlformats.org/drawingml/2006/main">
            <a:off x="4772025" y="2143125"/>
            <a:ext cx="2657475" cy="990600"/>
          </a:xfrm>
          <a:prstGeom xmlns:a="http://schemas.openxmlformats.org/drawingml/2006/main" prst="rect">
            <a:avLst/>
          </a:prstGeom>
          <a:solidFill xmlns:a="http://schemas.openxmlformats.org/drawingml/2006/main">
            <a:srgbClr val="FFFFFF"/>
          </a:solidFill>
          <a:ln xmlns:a="http://schemas.openxmlformats.org/drawingml/2006/main" w="15240">
            <a:solidFill>
              <a:srgbClr val="165C7D"/>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142B3D"/>
                </a:solidFill>
                <a:latin typeface="Arial"/>
                <a:ea typeface="Arial"/>
                <a:cs typeface="Arial"/>
              </a:defRPr>
            </a:defPPr>
            <a:lvl1pPr algn="ctr">
              <a:defRPr sz="1875">
                <a:solidFill>
                  <a:srgbClr val="142B3D"/>
                </a:solidFill>
                <a:latin typeface="Arial"/>
                <a:ea typeface="Arial"/>
                <a:cs typeface="Arial"/>
              </a:defRPr>
            </a:lvl1pPr>
            <a:lvl2pPr algn="ctr">
              <a:defRPr sz="1875">
                <a:solidFill>
                  <a:srgbClr val="142B3D"/>
                </a:solidFill>
                <a:latin typeface="Arial"/>
                <a:ea typeface="Arial"/>
                <a:cs typeface="Arial"/>
              </a:defRPr>
            </a:lvl2pPr>
            <a:lvl3pPr algn="ctr">
              <a:defRPr sz="1875">
                <a:solidFill>
                  <a:srgbClr val="142B3D"/>
                </a:solidFill>
                <a:latin typeface="Arial"/>
                <a:ea typeface="Arial"/>
                <a:cs typeface="Arial"/>
              </a:defRPr>
            </a:lvl3pPr>
            <a:lvl4pPr algn="ctr">
              <a:defRPr sz="1875">
                <a:solidFill>
                  <a:srgbClr val="142B3D"/>
                </a:solidFill>
                <a:latin typeface="Arial"/>
                <a:ea typeface="Arial"/>
                <a:cs typeface="Arial"/>
              </a:defRPr>
            </a:lvl4pPr>
            <a:lvl5pPr algn="ctr">
              <a:defRPr sz="1875">
                <a:solidFill>
                  <a:srgbClr val="142B3D"/>
                </a:solidFill>
                <a:latin typeface="Arial"/>
                <a:ea typeface="Arial"/>
                <a:cs typeface="Arial"/>
              </a:defRPr>
            </a:lvl5pPr>
            <a:lvl6pPr algn="ctr">
              <a:defRPr sz="1875">
                <a:solidFill>
                  <a:srgbClr val="142B3D"/>
                </a:solidFill>
                <a:latin typeface="Arial"/>
                <a:ea typeface="Arial"/>
                <a:cs typeface="Arial"/>
              </a:defRPr>
            </a:lvl6pPr>
            <a:lvl7pPr algn="ctr">
              <a:defRPr sz="1875">
                <a:solidFill>
                  <a:srgbClr val="142B3D"/>
                </a:solidFill>
                <a:latin typeface="Arial"/>
                <a:ea typeface="Arial"/>
                <a:cs typeface="Arial"/>
              </a:defRPr>
            </a:lvl7pPr>
            <a:lvl8pPr algn="ctr">
              <a:defRPr sz="1875">
                <a:solidFill>
                  <a:srgbClr val="142B3D"/>
                </a:solidFill>
                <a:latin typeface="Arial"/>
                <a:ea typeface="Arial"/>
                <a:cs typeface="Arial"/>
              </a:defRPr>
            </a:lvl8pPr>
            <a:lvl9pPr algn="ctr">
              <a:defRPr sz="1875">
                <a:solidFill>
                  <a:srgbClr val="142B3D"/>
                </a:solidFill>
                <a:latin typeface="Arial"/>
                <a:ea typeface="Arial"/>
                <a:cs typeface="Arial"/>
              </a:defRPr>
            </a:lvl9pPr>
          </a:lstStyle>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yr-code</a:t>
            </a:r>
          </a:p>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Supervisor</a:t>
            </a:r>
          </a:p>
        </p:txBody>
      </p:sp>
      <p:sp>
        <p:nvSpPr>
          <p:cNvPr id="6" name="task">
            <a:extLst xmlns:a="http://schemas.openxmlformats.org/drawingml/2006/main">
              <a:ext uri="{FF2B5EF4-FFF2-40B4-BE49-F238E27FC236}">
                <a16:creationId xmlns:a16="http://schemas.microsoft.com/office/drawing/2014/main" id="{0E9FC06D-F5FB-4EFB-A91F-2ECB3B5D235E}"/>
              </a:ext>
            </a:extLst>
          </p:cNvPr>
          <p:cNvSpPr>
            <a:spLocks xmlns:a="http://schemas.openxmlformats.org/drawingml/2006/main" noGrp="1"/>
          </p:cNvSpPr>
          <p:nvPr/>
        </p:nvSpPr>
        <p:spPr>
          <a:xfrm xmlns:a="http://schemas.openxmlformats.org/drawingml/2006/main">
            <a:off x="8858250" y="2143125"/>
            <a:ext cx="2647950" cy="990600"/>
          </a:xfrm>
          <a:prstGeom xmlns:a="http://schemas.openxmlformats.org/drawingml/2006/main" prst="rect">
            <a:avLst/>
          </a:prstGeom>
          <a:solidFill xmlns:a="http://schemas.openxmlformats.org/drawingml/2006/main">
            <a:srgbClr val="FFFFFF"/>
          </a:solidFill>
          <a:ln xmlns:a="http://schemas.openxmlformats.org/drawingml/2006/main" w="15240">
            <a:solidFill>
              <a:srgbClr val="165C7D"/>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142B3D"/>
                </a:solidFill>
                <a:latin typeface="Arial"/>
                <a:ea typeface="Arial"/>
                <a:cs typeface="Arial"/>
              </a:defRPr>
            </a:defPPr>
            <a:lvl1pPr algn="ctr">
              <a:defRPr sz="1875">
                <a:solidFill>
                  <a:srgbClr val="142B3D"/>
                </a:solidFill>
                <a:latin typeface="Arial"/>
                <a:ea typeface="Arial"/>
                <a:cs typeface="Arial"/>
              </a:defRPr>
            </a:lvl1pPr>
            <a:lvl2pPr algn="ctr">
              <a:defRPr sz="1875">
                <a:solidFill>
                  <a:srgbClr val="142B3D"/>
                </a:solidFill>
                <a:latin typeface="Arial"/>
                <a:ea typeface="Arial"/>
                <a:cs typeface="Arial"/>
              </a:defRPr>
            </a:lvl2pPr>
            <a:lvl3pPr algn="ctr">
              <a:defRPr sz="1875">
                <a:solidFill>
                  <a:srgbClr val="142B3D"/>
                </a:solidFill>
                <a:latin typeface="Arial"/>
                <a:ea typeface="Arial"/>
                <a:cs typeface="Arial"/>
              </a:defRPr>
            </a:lvl3pPr>
            <a:lvl4pPr algn="ctr">
              <a:defRPr sz="1875">
                <a:solidFill>
                  <a:srgbClr val="142B3D"/>
                </a:solidFill>
                <a:latin typeface="Arial"/>
                <a:ea typeface="Arial"/>
                <a:cs typeface="Arial"/>
              </a:defRPr>
            </a:lvl4pPr>
            <a:lvl5pPr algn="ctr">
              <a:defRPr sz="1875">
                <a:solidFill>
                  <a:srgbClr val="142B3D"/>
                </a:solidFill>
                <a:latin typeface="Arial"/>
                <a:ea typeface="Arial"/>
                <a:cs typeface="Arial"/>
              </a:defRPr>
            </a:lvl5pPr>
            <a:lvl6pPr algn="ctr">
              <a:defRPr sz="1875">
                <a:solidFill>
                  <a:srgbClr val="142B3D"/>
                </a:solidFill>
                <a:latin typeface="Arial"/>
                <a:ea typeface="Arial"/>
                <a:cs typeface="Arial"/>
              </a:defRPr>
            </a:lvl6pPr>
            <a:lvl7pPr algn="ctr">
              <a:defRPr sz="1875">
                <a:solidFill>
                  <a:srgbClr val="142B3D"/>
                </a:solidFill>
                <a:latin typeface="Arial"/>
                <a:ea typeface="Arial"/>
                <a:cs typeface="Arial"/>
              </a:defRPr>
            </a:lvl7pPr>
            <a:lvl8pPr algn="ctr">
              <a:defRPr sz="1875">
                <a:solidFill>
                  <a:srgbClr val="142B3D"/>
                </a:solidFill>
                <a:latin typeface="Arial"/>
                <a:ea typeface="Arial"/>
                <a:cs typeface="Arial"/>
              </a:defRPr>
            </a:lvl8pPr>
            <a:lvl9pPr algn="ctr">
              <a:defRPr sz="1875">
                <a:solidFill>
                  <a:srgbClr val="142B3D"/>
                </a:solidFill>
                <a:latin typeface="Arial"/>
                <a:ea typeface="Arial"/>
                <a:cs typeface="Arial"/>
              </a:defRPr>
            </a:lvl9pPr>
          </a:lstStyle>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Declared adapter or task</a:t>
            </a:r>
          </a:p>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Receipt + artifact hash</a:t>
            </a:r>
          </a:p>
        </p:txBody>
      </p:sp>
      <p:sp>
        <p:nvSpPr>
          <p:cNvPr id="9" name="native">
            <a:extLst xmlns:a="http://schemas.openxmlformats.org/drawingml/2006/main">
              <a:ext uri="{FF2B5EF4-FFF2-40B4-BE49-F238E27FC236}">
                <a16:creationId xmlns:a16="http://schemas.microsoft.com/office/drawing/2014/main" id="{19EA4CB2-21A7-4C20-98F3-61D2CE173586}"/>
              </a:ext>
            </a:extLst>
          </p:cNvPr>
          <p:cNvSpPr>
            <a:spLocks xmlns:a="http://schemas.openxmlformats.org/drawingml/2006/main" noGrp="1"/>
          </p:cNvSpPr>
          <p:nvPr/>
        </p:nvSpPr>
        <p:spPr>
          <a:xfrm xmlns:a="http://schemas.openxmlformats.org/drawingml/2006/main">
            <a:off x="685800" y="4067175"/>
            <a:ext cx="10820400" cy="1162050"/>
          </a:xfrm>
          <a:prstGeom xmlns:a="http://schemas.openxmlformats.org/drawingml/2006/main" prst="rect">
            <a:avLst/>
          </a:prstGeom>
          <a:solidFill xmlns:a="http://schemas.openxmlformats.org/drawingml/2006/main">
            <a:srgbClr val="FFFFFF"/>
          </a:solidFill>
          <a:ln xmlns:a="http://schemas.openxmlformats.org/drawingml/2006/main" w="15240">
            <a:solidFill>
              <a:srgbClr val="165C7D"/>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142B3D"/>
                </a:solidFill>
                <a:latin typeface="Arial"/>
                <a:ea typeface="Arial"/>
                <a:cs typeface="Arial"/>
              </a:defRPr>
            </a:defPPr>
            <a:lvl1pPr algn="ctr">
              <a:defRPr sz="1875">
                <a:solidFill>
                  <a:srgbClr val="142B3D"/>
                </a:solidFill>
                <a:latin typeface="Arial"/>
                <a:ea typeface="Arial"/>
                <a:cs typeface="Arial"/>
              </a:defRPr>
            </a:lvl1pPr>
            <a:lvl2pPr algn="ctr">
              <a:defRPr sz="1875">
                <a:solidFill>
                  <a:srgbClr val="142B3D"/>
                </a:solidFill>
                <a:latin typeface="Arial"/>
                <a:ea typeface="Arial"/>
                <a:cs typeface="Arial"/>
              </a:defRPr>
            </a:lvl2pPr>
            <a:lvl3pPr algn="ctr">
              <a:defRPr sz="1875">
                <a:solidFill>
                  <a:srgbClr val="142B3D"/>
                </a:solidFill>
                <a:latin typeface="Arial"/>
                <a:ea typeface="Arial"/>
                <a:cs typeface="Arial"/>
              </a:defRPr>
            </a:lvl3pPr>
            <a:lvl4pPr algn="ctr">
              <a:defRPr sz="1875">
                <a:solidFill>
                  <a:srgbClr val="142B3D"/>
                </a:solidFill>
                <a:latin typeface="Arial"/>
                <a:ea typeface="Arial"/>
                <a:cs typeface="Arial"/>
              </a:defRPr>
            </a:lvl4pPr>
            <a:lvl5pPr algn="ctr">
              <a:defRPr sz="1875">
                <a:solidFill>
                  <a:srgbClr val="142B3D"/>
                </a:solidFill>
                <a:latin typeface="Arial"/>
                <a:ea typeface="Arial"/>
                <a:cs typeface="Arial"/>
              </a:defRPr>
            </a:lvl5pPr>
            <a:lvl6pPr algn="ctr">
              <a:defRPr sz="1875">
                <a:solidFill>
                  <a:srgbClr val="142B3D"/>
                </a:solidFill>
                <a:latin typeface="Arial"/>
                <a:ea typeface="Arial"/>
                <a:cs typeface="Arial"/>
              </a:defRPr>
            </a:lvl6pPr>
            <a:lvl7pPr algn="ctr">
              <a:defRPr sz="1875">
                <a:solidFill>
                  <a:srgbClr val="142B3D"/>
                </a:solidFill>
                <a:latin typeface="Arial"/>
                <a:ea typeface="Arial"/>
                <a:cs typeface="Arial"/>
              </a:defRPr>
            </a:lvl7pPr>
            <a:lvl8pPr algn="ctr">
              <a:defRPr sz="1875">
                <a:solidFill>
                  <a:srgbClr val="142B3D"/>
                </a:solidFill>
                <a:latin typeface="Arial"/>
                <a:ea typeface="Arial"/>
                <a:cs typeface="Arial"/>
              </a:defRPr>
            </a:lvl8pPr>
            <a:lvl9pPr algn="ctr">
              <a:defRPr sz="1875">
                <a:solidFill>
                  <a:srgbClr val="142B3D"/>
                </a:solidFill>
                <a:latin typeface="Arial"/>
                <a:ea typeface="Arial"/>
                <a:cs typeface="Arial"/>
              </a:defRPr>
            </a:lvl9pPr>
          </a:lstStyle>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Reused WorkLedger + Intent Guard</a:t>
            </a:r>
          </a:p>
          <a:p xmlns:a="http://schemas.openxmlformats.org/drawingml/2006/main">
            <a:pPr algn="ctr">
              <a:defRPr sz="1875">
                <a:solidFill>
                  <a:srgbClr val="142B3D"/>
                </a:solidFill>
                <a:latin typeface="Arial"/>
                <a:ea typeface="Arial"/>
                <a:cs typeface="Arial"/>
              </a:defRPr>
            </a:pPr>
            <a:r>
              <a:rPr sz="1875">
                <a:solidFill>
                  <a:srgbClr val="142B3D"/>
                </a:solidFill>
                <a:latin typeface="Arial"/>
                <a:ea typeface="Arial"/>
                <a:cs typeface="Arial"/>
              </a:rPr>
              <a:t>The native runtime is the only work-state writer</a:t>
            </a:r>
          </a:p>
        </p:txBody>
      </p:sp>
      <p:sp>
        <p:nvSpPr>
          <p:cNvPr id="12" name="views">
            <a:extLst xmlns:a="http://schemas.openxmlformats.org/drawingml/2006/main">
              <a:ext uri="{FF2B5EF4-FFF2-40B4-BE49-F238E27FC236}">
                <a16:creationId xmlns:a16="http://schemas.microsoft.com/office/drawing/2014/main" id="{8E98152C-5823-4588-8285-3803CEDFC277}"/>
              </a:ext>
            </a:extLst>
          </p:cNvPr>
          <p:cNvSpPr>
            <a:spLocks xmlns:a="http://schemas.openxmlformats.org/drawingml/2006/main" noGrp="1"/>
          </p:cNvSpPr>
          <p:nvPr/>
        </p:nvSpPr>
        <p:spPr>
          <a:xfrm xmlns:a="http://schemas.openxmlformats.org/drawingml/2006/main">
            <a:off x="685800" y="55626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Read views: World Model, typed graph, status and byte verification</a:t>
            </a:r>
          </a:p>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Transfer source and evidence; moved active journals stay on HOLD</a:t>
            </a:r>
          </a:p>
        </p:txBody>
      </p:sp>
    </p:spTree>
    <p:extLst>
      <p:ext uri="{BB962C8B-B14F-4D97-AF65-F5344CB8AC3E}">
        <p14:creationId xmlns:p14="http://schemas.microsoft.com/office/powerpoint/2010/main" val="41803832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6D6A4B0-9DE1-4CE3-9179-90FEEEF0EE85}"/>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Native evidence after STOP and recovery</a:t>
            </a:r>
          </a:p>
        </p:txBody>
      </p:sp>
      <p:sp>
        <p:nvSpPr>
          <p:cNvPr id="2" name="subtitle">
            <a:extLst xmlns:a="http://schemas.openxmlformats.org/drawingml/2006/main">
              <a:ext uri="{FF2B5EF4-FFF2-40B4-BE49-F238E27FC236}">
                <a16:creationId xmlns:a16="http://schemas.microsoft.com/office/drawing/2014/main" id="{55622E01-BA38-4CD9-A477-6D2C872C5A99}"/>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Selected current stdout fields stay traceable to the original captured bytes.</a:t>
            </a:r>
          </a:p>
        </p:txBody>
      </p:sp>
      <p:sp>
        <p:nvSpPr>
          <p:cNvPr id="3" name="page">
            <a:extLst xmlns:a="http://schemas.openxmlformats.org/drawingml/2006/main">
              <a:ext uri="{FF2B5EF4-FFF2-40B4-BE49-F238E27FC236}">
                <a16:creationId xmlns:a16="http://schemas.microsoft.com/office/drawing/2014/main" id="{21AE4E17-2958-45F6-B7DE-6E82645E4E97}"/>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A001EE16-37EC-4501-8443-762436E109CD}"/>
              </a:ext>
            </a:extLst>
          </p:cNvPr>
          <p:cNvGraphicFramePr/>
          <p:nvPr/>
        </p:nvGraphicFramePr>
        <p:xfrm>
          <a:off xmlns:a="http://schemas.openxmlformats.org/drawingml/2006/main" x="685800" y="2133600"/>
          <a:ext xmlns:a="http://schemas.openxmlformats.org/drawingml/2006/main" cx="10820400" cy="3467100"/>
        </p:xfrm>
        <a:graphic xmlns:a="http://schemas.openxmlformats.org/drawingml/2006/main">
          <a:graphicData uri="http://schemas.openxmlformats.org/drawingml/2006/table">
            <a:tbl>
              <a:tblPr firstRow="1" bandRow="0"/>
              <a:tblGrid>
                <a:gridCol w="3429000"/>
                <a:gridCol w="7391400"/>
              </a:tblGrid>
              <a:tr h="485775">
                <a:tc>
                  <a:txBody>
                    <a:bodyPr wrap="square" lIns="123825" tIns="76200" rIns="123825" bIns="76200">
                      <a:noAutofit/>
                    </a:bodyPr>
                    <a:lstStyle/>
                    <a:p>
                      <a:pPr algn="l"/>
                      <a:r>
                        <a:rPr sz="1725" b="1">
                          <a:solidFill>
                            <a:srgbClr val="FFFFFF"/>
                          </a:solidFill>
                          <a:latin typeface="Arial"/>
                          <a:ea typeface="Arial"/>
                          <a:cs typeface="Arial"/>
                        </a:rPr>
                        <a:t>Native field</a:t>
                      </a:r>
                    </a:p>
                  </a:txBody>
                  <a:tcPr marL="91440" marR="91440" marT="45720" marB="45720" anchor="ctr">
                    <a:lnL w="9525">
                      <a:solidFill>
                        <a:srgbClr val="CDD8DE"/>
                      </a:solidFill>
                      <a:prstDash val="solid"/>
                    </a:lnL>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c>
                  <a:txBody>
                    <a:bodyPr wrap="square" lIns="123825" tIns="76200" rIns="123825" bIns="76200">
                      <a:noAutofit/>
                    </a:bodyPr>
                    <a:lstStyle/>
                    <a:p>
                      <a:pPr algn="l"/>
                      <a:r>
                        <a:rPr sz="1725" b="1">
                          <a:solidFill>
                            <a:srgbClr val="FFFFFF"/>
                          </a:solidFill>
                          <a:latin typeface="Arial"/>
                          <a:ea typeface="Arial"/>
                          <a:cs typeface="Arial"/>
                        </a:rPr>
                        <a:t>Observed state</a:t>
                      </a:r>
                    </a:p>
                  </a:txBody>
                  <a:tcPr marL="91440" marR="91440" marT="45720" marB="45720" anchor="ctr">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r>
              <a:tr h="596265">
                <a:tc>
                  <a:txBody>
                    <a:bodyPr wrap="square" lIns="123825" tIns="76200" rIns="123825" bIns="76200">
                      <a:noAutofit/>
                    </a:bodyPr>
                    <a:lstStyle/>
                    <a:p>
                      <a:pPr algn="l"/>
                      <a:r>
                        <a:rPr sz="1725" b="0">
                          <a:solidFill>
                            <a:srgbClr val="142B3D"/>
                          </a:solidFill>
                          <a:latin typeface="Arial"/>
                          <a:ea typeface="Arial"/>
                          <a:cs typeface="Arial"/>
                        </a:rPr>
                        <a:t>ROOT_A</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3 / 3 consumed across parent, child and grandchild</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596265">
                <a:tc>
                  <a:txBody>
                    <a:bodyPr wrap="square" lIns="123825" tIns="76200" rIns="123825" bIns="76200">
                      <a:noAutofit/>
                    </a:bodyPr>
                    <a:lstStyle/>
                    <a:p>
                      <a:pPr algn="l"/>
                      <a:r>
                        <a:rPr sz="1725" b="0">
                          <a:solidFill>
                            <a:srgbClr val="142B3D"/>
                          </a:solidFill>
                          <a:latin typeface="Arial"/>
                          <a:ea typeface="Arial"/>
                          <a:cs typeface="Arial"/>
                        </a:rPr>
                        <a:t>ROOT_B</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UNKNOWN_COMPLETION; automatic retry refused</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596265">
                <a:tc>
                  <a:txBody>
                    <a:bodyPr wrap="square" lIns="123825" tIns="76200" rIns="123825" bIns="76200">
                      <a:noAutofit/>
                    </a:bodyPr>
                    <a:lstStyle/>
                    <a:p>
                      <a:pPr algn="l"/>
                      <a:r>
                        <a:rPr sz="1725" b="0">
                          <a:solidFill>
                            <a:srgbClr val="142B3D"/>
                          </a:solidFill>
                          <a:latin typeface="Arial"/>
                          <a:ea typeface="Arial"/>
                          <a:cs typeface="Arial"/>
                        </a:rPr>
                        <a:t>ROOT_C</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Independent local work continued</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596265">
                <a:tc>
                  <a:txBody>
                    <a:bodyPr wrap="square" lIns="123825" tIns="76200" rIns="123825" bIns="76200">
                      <a:noAutofit/>
                    </a:bodyPr>
                    <a:lstStyle/>
                    <a:p>
                      <a:pPr algn="l"/>
                      <a:r>
                        <a:rPr sz="1725" b="0">
                          <a:solidFill>
                            <a:srgbClr val="142B3D"/>
                          </a:solidFill>
                          <a:latin typeface="Arial"/>
                          <a:ea typeface="Arial"/>
                          <a:cs typeface="Arial"/>
                        </a:rPr>
                        <a:t>Presence</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Final active=false; STOP/restore preserves consumption</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596265">
                <a:tc>
                  <a:txBody>
                    <a:bodyPr wrap="square" lIns="123825" tIns="76200" rIns="123825" bIns="76200">
                      <a:noAutofit/>
                    </a:bodyPr>
                    <a:lstStyle/>
                    <a:p>
                      <a:pPr algn="l"/>
                      <a:r>
                        <a:rPr sz="1725" b="0">
                          <a:solidFill>
                            <a:srgbClr val="142B3D"/>
                          </a:solidFill>
                          <a:latin typeface="Arial"/>
                          <a:ea typeface="Arial"/>
                          <a:cs typeface="Arial"/>
                        </a:rPr>
                        <a:t>Current readback</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PASS_NATIVE_DURABLE_READBACK</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bl>
          </a:graphicData>
        </a:graphic>
      </p:graphicFrame>
      <p:sp>
        <p:nvSpPr>
          <p:cNvPr id="5" name="current-result">
            <a:extLst xmlns:a="http://schemas.openxmlformats.org/drawingml/2006/main">
              <a:ext uri="{FF2B5EF4-FFF2-40B4-BE49-F238E27FC236}">
                <a16:creationId xmlns:a16="http://schemas.microsoft.com/office/drawing/2014/main" id="{587B131D-7A96-43EB-9DDF-9E51140920F1}"/>
              </a:ext>
            </a:extLst>
          </p:cNvPr>
          <p:cNvSpPr>
            <a:spLocks xmlns:a="http://schemas.openxmlformats.org/drawingml/2006/main" noGrp="1"/>
          </p:cNvSpPr>
          <p:nvPr/>
        </p:nvSpPr>
        <p:spPr>
          <a:xfrm xmlns:a="http://schemas.openxmlformats.org/drawingml/2006/main">
            <a:off x="685800" y="5829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B3D"/>
                </a:solidFill>
                <a:latin typeface="Arial"/>
                <a:ea typeface="Arial"/>
                <a:cs typeface="Arial"/>
              </a:defRPr>
            </a:defPPr>
            <a:lvl1pPr algn="l">
              <a:defRPr sz="1950" b="0">
                <a:solidFill>
                  <a:srgbClr val="142B3D"/>
                </a:solidFill>
                <a:latin typeface="Arial"/>
                <a:ea typeface="Arial"/>
                <a:cs typeface="Arial"/>
              </a:defRPr>
            </a:lvl1pPr>
            <a:lvl2pPr algn="l">
              <a:defRPr sz="1950" b="0">
                <a:solidFill>
                  <a:srgbClr val="142B3D"/>
                </a:solidFill>
                <a:latin typeface="Arial"/>
                <a:ea typeface="Arial"/>
                <a:cs typeface="Arial"/>
              </a:defRPr>
            </a:lvl2pPr>
            <a:lvl3pPr algn="l">
              <a:defRPr sz="1950" b="0">
                <a:solidFill>
                  <a:srgbClr val="142B3D"/>
                </a:solidFill>
                <a:latin typeface="Arial"/>
                <a:ea typeface="Arial"/>
                <a:cs typeface="Arial"/>
              </a:defRPr>
            </a:lvl3pPr>
            <a:lvl4pPr algn="l">
              <a:defRPr sz="1950" b="0">
                <a:solidFill>
                  <a:srgbClr val="142B3D"/>
                </a:solidFill>
                <a:latin typeface="Arial"/>
                <a:ea typeface="Arial"/>
                <a:cs typeface="Arial"/>
              </a:defRPr>
            </a:lvl4pPr>
            <a:lvl5pPr algn="l">
              <a:defRPr sz="1950" b="0">
                <a:solidFill>
                  <a:srgbClr val="142B3D"/>
                </a:solidFill>
                <a:latin typeface="Arial"/>
                <a:ea typeface="Arial"/>
                <a:cs typeface="Arial"/>
              </a:defRPr>
            </a:lvl5pPr>
            <a:lvl6pPr algn="l">
              <a:defRPr sz="1950" b="0">
                <a:solidFill>
                  <a:srgbClr val="142B3D"/>
                </a:solidFill>
                <a:latin typeface="Arial"/>
                <a:ea typeface="Arial"/>
                <a:cs typeface="Arial"/>
              </a:defRPr>
            </a:lvl6pPr>
            <a:lvl7pPr algn="l">
              <a:defRPr sz="1950" b="0">
                <a:solidFill>
                  <a:srgbClr val="142B3D"/>
                </a:solidFill>
                <a:latin typeface="Arial"/>
                <a:ea typeface="Arial"/>
                <a:cs typeface="Arial"/>
              </a:defRPr>
            </a:lvl7pPr>
            <a:lvl8pPr algn="l">
              <a:defRPr sz="1950" b="0">
                <a:solidFill>
                  <a:srgbClr val="142B3D"/>
                </a:solidFill>
                <a:latin typeface="Arial"/>
                <a:ea typeface="Arial"/>
                <a:cs typeface="Arial"/>
              </a:defRPr>
            </a:lvl8pPr>
            <a:lvl9pPr algn="l">
              <a:defRPr sz="1950" b="0">
                <a:solidFill>
                  <a:srgbClr val="142B3D"/>
                </a:solidFill>
                <a:latin typeface="Arial"/>
                <a:ea typeface="Arial"/>
                <a:cs typeface="Arial"/>
              </a:defRPr>
            </a:lvl9pPr>
          </a:lstStyle>
          <a:p xmlns:a="http://schemas.openxmlformats.org/drawingml/2006/main">
            <a:pPr algn="l">
              <a:defRPr sz="1950" b="0">
                <a:solidFill>
                  <a:srgbClr val="142B3D"/>
                </a:solidFill>
                <a:latin typeface="Arial"/>
                <a:ea typeface="Arial"/>
                <a:cs typeface="Arial"/>
              </a:defRPr>
            </a:pPr>
            <a:r>
              <a:rPr sz="1950" b="0">
                <a:solidFill>
                  <a:srgbClr val="142B3D"/>
                </a:solidFill>
                <a:latin typeface="Arial"/>
                <a:ea typeface="Arial"/>
                <a:cs typeface="Arial"/>
              </a:rPr>
              <a:t>12 / 12 scoped checks pass. Uncertainty survives restart.</a:t>
            </a:r>
          </a:p>
          <a:p xmlns:a="http://schemas.openxmlformats.org/drawingml/2006/main">
            <a:pPr algn="l">
              <a:defRPr sz="1950" b="0">
                <a:solidFill>
                  <a:srgbClr val="142B3D"/>
                </a:solidFill>
                <a:latin typeface="Arial"/>
                <a:ea typeface="Arial"/>
                <a:cs typeface="Arial"/>
              </a:defRPr>
            </a:pPr>
            <a:r>
              <a:rPr sz="1950" b="0">
                <a:solidFill>
                  <a:srgbClr val="142B3D"/>
                </a:solidFill>
                <a:latin typeface="Arial"/>
                <a:ea typeface="Arial"/>
                <a:cs typeface="Arial"/>
              </a:rPr>
              <a:t>The independent purpose continues in the same native demo.</a:t>
            </a:r>
          </a:p>
        </p:txBody>
      </p:sp>
    </p:spTree>
    <p:extLst>
      <p:ext uri="{BB962C8B-B14F-4D97-AF65-F5344CB8AC3E}">
        <p14:creationId xmlns:p14="http://schemas.microsoft.com/office/powerpoint/2010/main" val="112892212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A94D963-EB5E-4892-8926-0253C02BEC50}"/>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Source-linked reports and A4 landscape graphs</a:t>
            </a:r>
          </a:p>
        </p:txBody>
      </p:sp>
      <p:sp>
        <p:nvSpPr>
          <p:cNvPr id="2" name="subtitle">
            <a:extLst xmlns:a="http://schemas.openxmlformats.org/drawingml/2006/main">
              <a:ext uri="{FF2B5EF4-FFF2-40B4-BE49-F238E27FC236}">
                <a16:creationId xmlns:a16="http://schemas.microsoft.com/office/drawing/2014/main" id="{0848E91C-0279-49CD-A88B-8BE01F504454}"/>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The local renderer carries sources, typed relations and visible UNKNOWN / HOLD.</a:t>
            </a:r>
          </a:p>
        </p:txBody>
      </p:sp>
      <p:sp>
        <p:nvSpPr>
          <p:cNvPr id="3" name="page">
            <a:extLst xmlns:a="http://schemas.openxmlformats.org/drawingml/2006/main">
              <a:ext uri="{FF2B5EF4-FFF2-40B4-BE49-F238E27FC236}">
                <a16:creationId xmlns:a16="http://schemas.microsoft.com/office/drawing/2014/main" id="{00688179-5ACD-4281-9180-045C7550B40C}"/>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81119DE5-CACF-484A-95D3-A81282F43DE7}"/>
              </a:ext>
            </a:extLst>
          </p:cNvPr>
          <p:cNvPicPr>
            <a:picLocks xmlns:a="http://schemas.openxmlformats.org/drawingml/2006/main" noChangeAspect="1"/>
          </p:cNvPicPr>
          <p:nvPr/>
        </p:nvPicPr>
        <p:blipFill>
          <a:blip xmlns:r="http://schemas.openxmlformats.org/officeDocument/2006/relationships" xmlns:a="http://schemas.openxmlformats.org/drawingml/2006/main" r:embed="R9c69cc0070924cd0"/>
          <a:stretch xmlns:a="http://schemas.openxmlformats.org/drawingml/2006/main"/>
        </p:blipFill>
        <p:spPr>
          <a:xfrm xmlns:a="http://schemas.openxmlformats.org/drawingml/2006/main">
            <a:off x="1451039" y="2047875"/>
            <a:ext cx="5117973" cy="3619500"/>
          </a:xfrm>
          <a:prstGeom xmlns:a="http://schemas.openxmlformats.org/drawingml/2006/main" prst="rect">
            <a:avLst/>
          </a:prstGeom>
        </p:spPr>
      </p:pic>
      <p:sp>
        <p:nvSpPr>
          <p:cNvPr id="5" name="formats">
            <a:extLst xmlns:a="http://schemas.openxmlformats.org/drawingml/2006/main">
              <a:ext uri="{FF2B5EF4-FFF2-40B4-BE49-F238E27FC236}">
                <a16:creationId xmlns:a16="http://schemas.microsoft.com/office/drawing/2014/main" id="{72DB54E6-2643-473A-B469-BDA88E2EA407}"/>
              </a:ext>
            </a:extLst>
          </p:cNvPr>
          <p:cNvSpPr>
            <a:spLocks xmlns:a="http://schemas.openxmlformats.org/drawingml/2006/main" noGrp="1"/>
          </p:cNvSpPr>
          <p:nvPr/>
        </p:nvSpPr>
        <p:spPr>
          <a:xfrm xmlns:a="http://schemas.openxmlformats.org/drawingml/2006/main">
            <a:off x="7743825" y="2238375"/>
            <a:ext cx="37623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B3D"/>
                </a:solidFill>
                <a:latin typeface="Arial"/>
                <a:ea typeface="Arial"/>
                <a:cs typeface="Arial"/>
              </a:defRPr>
            </a:defPPr>
            <a:lvl1pPr algn="l">
              <a:defRPr sz="1950" b="0">
                <a:solidFill>
                  <a:srgbClr val="142B3D"/>
                </a:solidFill>
                <a:latin typeface="Arial"/>
                <a:ea typeface="Arial"/>
                <a:cs typeface="Arial"/>
              </a:defRPr>
            </a:lvl1pPr>
            <a:lvl2pPr algn="l">
              <a:defRPr sz="1950" b="0">
                <a:solidFill>
                  <a:srgbClr val="142B3D"/>
                </a:solidFill>
                <a:latin typeface="Arial"/>
                <a:ea typeface="Arial"/>
                <a:cs typeface="Arial"/>
              </a:defRPr>
            </a:lvl2pPr>
            <a:lvl3pPr algn="l">
              <a:defRPr sz="1950" b="0">
                <a:solidFill>
                  <a:srgbClr val="142B3D"/>
                </a:solidFill>
                <a:latin typeface="Arial"/>
                <a:ea typeface="Arial"/>
                <a:cs typeface="Arial"/>
              </a:defRPr>
            </a:lvl3pPr>
            <a:lvl4pPr algn="l">
              <a:defRPr sz="1950" b="0">
                <a:solidFill>
                  <a:srgbClr val="142B3D"/>
                </a:solidFill>
                <a:latin typeface="Arial"/>
                <a:ea typeface="Arial"/>
                <a:cs typeface="Arial"/>
              </a:defRPr>
            </a:lvl4pPr>
            <a:lvl5pPr algn="l">
              <a:defRPr sz="1950" b="0">
                <a:solidFill>
                  <a:srgbClr val="142B3D"/>
                </a:solidFill>
                <a:latin typeface="Arial"/>
                <a:ea typeface="Arial"/>
                <a:cs typeface="Arial"/>
              </a:defRPr>
            </a:lvl5pPr>
            <a:lvl6pPr algn="l">
              <a:defRPr sz="1950" b="0">
                <a:solidFill>
                  <a:srgbClr val="142B3D"/>
                </a:solidFill>
                <a:latin typeface="Arial"/>
                <a:ea typeface="Arial"/>
                <a:cs typeface="Arial"/>
              </a:defRPr>
            </a:lvl6pPr>
            <a:lvl7pPr algn="l">
              <a:defRPr sz="1950" b="0">
                <a:solidFill>
                  <a:srgbClr val="142B3D"/>
                </a:solidFill>
                <a:latin typeface="Arial"/>
                <a:ea typeface="Arial"/>
                <a:cs typeface="Arial"/>
              </a:defRPr>
            </a:lvl7pPr>
            <a:lvl8pPr algn="l">
              <a:defRPr sz="1950" b="0">
                <a:solidFill>
                  <a:srgbClr val="142B3D"/>
                </a:solidFill>
                <a:latin typeface="Arial"/>
                <a:ea typeface="Arial"/>
                <a:cs typeface="Arial"/>
              </a:defRPr>
            </a:lvl8pPr>
            <a:lvl9pPr algn="l">
              <a:defRPr sz="1950" b="0">
                <a:solidFill>
                  <a:srgbClr val="142B3D"/>
                </a:solidFill>
                <a:latin typeface="Arial"/>
                <a:ea typeface="Arial"/>
                <a:cs typeface="Arial"/>
              </a:defRPr>
            </a:lvl9pPr>
          </a:lstStyle>
          <a:p xmlns:a="http://schemas.openxmlformats.org/drawingml/2006/main">
            <a:pPr algn="l">
              <a:defRPr sz="1950" b="0">
                <a:solidFill>
                  <a:srgbClr val="142B3D"/>
                </a:solidFill>
                <a:latin typeface="Arial"/>
                <a:ea typeface="Arial"/>
                <a:cs typeface="Arial"/>
              </a:defRPr>
            </a:pPr>
            <a:r>
              <a:rPr sz="1950" b="0">
                <a:solidFill>
                  <a:srgbClr val="142B3D"/>
                </a:solidFill>
                <a:latin typeface="Arial"/>
                <a:ea typeface="Arial"/>
                <a:cs typeface="Arial"/>
              </a:rPr>
              <a:t>A4 landscape 297 × 210 mm</a:t>
            </a:r>
          </a:p>
          <a:p xmlns:a="http://schemas.openxmlformats.org/drawingml/2006/main">
            <a:pPr algn="l">
              <a:defRPr sz="1950" b="0">
                <a:solidFill>
                  <a:srgbClr val="142B3D"/>
                </a:solidFill>
                <a:latin typeface="Arial"/>
                <a:ea typeface="Arial"/>
                <a:cs typeface="Arial"/>
              </a:defRPr>
            </a:pPr>
            <a:r>
              <a:rPr sz="1950" b="0">
                <a:solidFill>
                  <a:srgbClr val="142B3D"/>
                </a:solidFill>
                <a:latin typeface="Arial"/>
                <a:ea typeface="Arial"/>
                <a:cs typeface="Arial"/>
              </a:rPr>
              <a:t>SVG / PNG / PDF</a:t>
            </a:r>
          </a:p>
          <a:p xmlns:a="http://schemas.openxmlformats.org/drawingml/2006/main">
            <a:pPr algn="l">
              <a:defRPr sz="1950" b="0">
                <a:solidFill>
                  <a:srgbClr val="142B3D"/>
                </a:solidFill>
                <a:latin typeface="Arial"/>
                <a:ea typeface="Arial"/>
                <a:cs typeface="Arial"/>
              </a:defRPr>
            </a:pPr>
            <a:r>
              <a:rPr sz="1950" b="0">
                <a:solidFill>
                  <a:srgbClr val="142B3D"/>
                </a:solidFill>
                <a:latin typeface="Arial"/>
                <a:ea typeface="Arial"/>
                <a:cs typeface="Arial"/>
              </a:rPr>
              <a:t>Graph master JSON + receipts</a:t>
            </a:r>
          </a:p>
        </p:txBody>
      </p:sp>
      <p:sp>
        <p:nvSpPr>
          <p:cNvPr id="6" name="source">
            <a:extLst xmlns:a="http://schemas.openxmlformats.org/drawingml/2006/main">
              <a:ext uri="{FF2B5EF4-FFF2-40B4-BE49-F238E27FC236}">
                <a16:creationId xmlns:a16="http://schemas.microsoft.com/office/drawing/2014/main" id="{69108B45-1B11-4F7F-8E90-777D1C8D68A9}"/>
              </a:ext>
            </a:extLst>
          </p:cNvPr>
          <p:cNvSpPr>
            <a:spLocks xmlns:a="http://schemas.openxmlformats.org/drawingml/2006/main" noGrp="1"/>
          </p:cNvSpPr>
          <p:nvPr/>
        </p:nvSpPr>
        <p:spPr>
          <a:xfrm xmlns:a="http://schemas.openxmlformats.org/drawingml/2006/main">
            <a:off x="7743825" y="3743325"/>
            <a:ext cx="3762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Reused YamRail/OSINT</a:t>
            </a:r>
          </a:p>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PR79 / PR62 lineage</a:t>
            </a:r>
          </a:p>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Source digest tied to report</a:t>
            </a:r>
          </a:p>
        </p:txBody>
      </p:sp>
      <p:sp>
        <p:nvSpPr>
          <p:cNvPr id="7" name="graph-commands">
            <a:extLst xmlns:a="http://schemas.openxmlformats.org/drawingml/2006/main">
              <a:ext uri="{FF2B5EF4-FFF2-40B4-BE49-F238E27FC236}">
                <a16:creationId xmlns:a16="http://schemas.microsoft.com/office/drawing/2014/main" id="{54DE84D1-5E79-4AEE-9A42-53E2C6E88517}"/>
              </a:ext>
            </a:extLst>
          </p:cNvPr>
          <p:cNvSpPr>
            <a:spLocks xmlns:a="http://schemas.openxmlformats.org/drawingml/2006/main" noGrp="1"/>
          </p:cNvSpPr>
          <p:nvPr/>
        </p:nvSpPr>
        <p:spPr>
          <a:xfrm xmlns:a="http://schemas.openxmlformats.org/drawingml/2006/main">
            <a:off x="7743825" y="5133975"/>
            <a:ext cx="3762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65C7D"/>
                </a:solidFill>
                <a:latin typeface="Arial"/>
                <a:ea typeface="Arial"/>
                <a:cs typeface="Arial"/>
              </a:defRPr>
            </a:defPPr>
            <a:lvl1pPr algn="l">
              <a:defRPr sz="1725" b="1">
                <a:solidFill>
                  <a:srgbClr val="165C7D"/>
                </a:solidFill>
                <a:latin typeface="Arial"/>
                <a:ea typeface="Arial"/>
                <a:cs typeface="Arial"/>
              </a:defRPr>
            </a:lvl1pPr>
            <a:lvl2pPr algn="l">
              <a:defRPr sz="1725" b="1">
                <a:solidFill>
                  <a:srgbClr val="165C7D"/>
                </a:solidFill>
                <a:latin typeface="Arial"/>
                <a:ea typeface="Arial"/>
                <a:cs typeface="Arial"/>
              </a:defRPr>
            </a:lvl2pPr>
            <a:lvl3pPr algn="l">
              <a:defRPr sz="1725" b="1">
                <a:solidFill>
                  <a:srgbClr val="165C7D"/>
                </a:solidFill>
                <a:latin typeface="Arial"/>
                <a:ea typeface="Arial"/>
                <a:cs typeface="Arial"/>
              </a:defRPr>
            </a:lvl3pPr>
            <a:lvl4pPr algn="l">
              <a:defRPr sz="1725" b="1">
                <a:solidFill>
                  <a:srgbClr val="165C7D"/>
                </a:solidFill>
                <a:latin typeface="Arial"/>
                <a:ea typeface="Arial"/>
                <a:cs typeface="Arial"/>
              </a:defRPr>
            </a:lvl4pPr>
            <a:lvl5pPr algn="l">
              <a:defRPr sz="1725" b="1">
                <a:solidFill>
                  <a:srgbClr val="165C7D"/>
                </a:solidFill>
                <a:latin typeface="Arial"/>
                <a:ea typeface="Arial"/>
                <a:cs typeface="Arial"/>
              </a:defRPr>
            </a:lvl5pPr>
            <a:lvl6pPr algn="l">
              <a:defRPr sz="1725" b="1">
                <a:solidFill>
                  <a:srgbClr val="165C7D"/>
                </a:solidFill>
                <a:latin typeface="Arial"/>
                <a:ea typeface="Arial"/>
                <a:cs typeface="Arial"/>
              </a:defRPr>
            </a:lvl6pPr>
            <a:lvl7pPr algn="l">
              <a:defRPr sz="1725" b="1">
                <a:solidFill>
                  <a:srgbClr val="165C7D"/>
                </a:solidFill>
                <a:latin typeface="Arial"/>
                <a:ea typeface="Arial"/>
                <a:cs typeface="Arial"/>
              </a:defRPr>
            </a:lvl7pPr>
            <a:lvl8pPr algn="l">
              <a:defRPr sz="1725" b="1">
                <a:solidFill>
                  <a:srgbClr val="165C7D"/>
                </a:solidFill>
                <a:latin typeface="Arial"/>
                <a:ea typeface="Arial"/>
                <a:cs typeface="Arial"/>
              </a:defRPr>
            </a:lvl8pPr>
            <a:lvl9pPr algn="l">
              <a:defRPr sz="1725" b="1">
                <a:solidFill>
                  <a:srgbClr val="165C7D"/>
                </a:solidFill>
                <a:latin typeface="Arial"/>
                <a:ea typeface="Arial"/>
                <a:cs typeface="Arial"/>
              </a:defRPr>
            </a:lvl9pPr>
          </a:lstStyle>
          <a:p xmlns:a="http://schemas.openxmlformats.org/drawingml/2006/main">
            <a:pPr algn="l">
              <a:defRPr sz="1725" b="1">
                <a:solidFill>
                  <a:srgbClr val="165C7D"/>
                </a:solidFill>
                <a:latin typeface="Arial"/>
                <a:ea typeface="Arial"/>
                <a:cs typeface="Arial"/>
              </a:defRPr>
            </a:pPr>
            <a:r>
              <a:rPr sz="1725" b="1">
                <a:solidFill>
                  <a:srgbClr val="165C7D"/>
                </a:solidFill>
                <a:latin typeface="Arial"/>
                <a:ea typeface="Arial"/>
                <a:cs typeface="Arial"/>
              </a:rPr>
              <a:t>yr-code report make</a:t>
            </a:r>
          </a:p>
          <a:p xmlns:a="http://schemas.openxmlformats.org/drawingml/2006/main">
            <a:pPr algn="l">
              <a:defRPr sz="1725" b="1">
                <a:solidFill>
                  <a:srgbClr val="165C7D"/>
                </a:solidFill>
                <a:latin typeface="Arial"/>
                <a:ea typeface="Arial"/>
                <a:cs typeface="Arial"/>
              </a:defRPr>
            </a:pPr>
            <a:r>
              <a:rPr sz="1725" b="1">
                <a:solidFill>
                  <a:srgbClr val="165C7D"/>
                </a:solidFill>
                <a:latin typeface="Arial"/>
                <a:ea typeface="Arial"/>
                <a:cs typeface="Arial"/>
              </a:rPr>
              <a:t>yr-code graph render</a:t>
            </a:r>
          </a:p>
        </p:txBody>
      </p:sp>
      <p:sp>
        <p:nvSpPr>
          <p:cNvPr id="8" name="cad-boundary">
            <a:extLst xmlns:a="http://schemas.openxmlformats.org/drawingml/2006/main">
              <a:ext uri="{FF2B5EF4-FFF2-40B4-BE49-F238E27FC236}">
                <a16:creationId xmlns:a16="http://schemas.microsoft.com/office/drawing/2014/main" id="{C84F75D2-EEDA-412E-B6C5-E9185BD62F91}"/>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96017"/>
                </a:solidFill>
                <a:latin typeface="Arial"/>
                <a:ea typeface="Arial"/>
                <a:cs typeface="Arial"/>
              </a:defRPr>
            </a:defPPr>
            <a:lvl1pPr algn="l">
              <a:defRPr sz="1725" b="1">
                <a:solidFill>
                  <a:srgbClr val="996017"/>
                </a:solidFill>
                <a:latin typeface="Arial"/>
                <a:ea typeface="Arial"/>
                <a:cs typeface="Arial"/>
              </a:defRPr>
            </a:lvl1pPr>
            <a:lvl2pPr algn="l">
              <a:defRPr sz="1725" b="1">
                <a:solidFill>
                  <a:srgbClr val="996017"/>
                </a:solidFill>
                <a:latin typeface="Arial"/>
                <a:ea typeface="Arial"/>
                <a:cs typeface="Arial"/>
              </a:defRPr>
            </a:lvl2pPr>
            <a:lvl3pPr algn="l">
              <a:defRPr sz="1725" b="1">
                <a:solidFill>
                  <a:srgbClr val="996017"/>
                </a:solidFill>
                <a:latin typeface="Arial"/>
                <a:ea typeface="Arial"/>
                <a:cs typeface="Arial"/>
              </a:defRPr>
            </a:lvl3pPr>
            <a:lvl4pPr algn="l">
              <a:defRPr sz="1725" b="1">
                <a:solidFill>
                  <a:srgbClr val="996017"/>
                </a:solidFill>
                <a:latin typeface="Arial"/>
                <a:ea typeface="Arial"/>
                <a:cs typeface="Arial"/>
              </a:defRPr>
            </a:lvl4pPr>
            <a:lvl5pPr algn="l">
              <a:defRPr sz="1725" b="1">
                <a:solidFill>
                  <a:srgbClr val="996017"/>
                </a:solidFill>
                <a:latin typeface="Arial"/>
                <a:ea typeface="Arial"/>
                <a:cs typeface="Arial"/>
              </a:defRPr>
            </a:lvl5pPr>
            <a:lvl6pPr algn="l">
              <a:defRPr sz="1725" b="1">
                <a:solidFill>
                  <a:srgbClr val="996017"/>
                </a:solidFill>
                <a:latin typeface="Arial"/>
                <a:ea typeface="Arial"/>
                <a:cs typeface="Arial"/>
              </a:defRPr>
            </a:lvl6pPr>
            <a:lvl7pPr algn="l">
              <a:defRPr sz="1725" b="1">
                <a:solidFill>
                  <a:srgbClr val="996017"/>
                </a:solidFill>
                <a:latin typeface="Arial"/>
                <a:ea typeface="Arial"/>
                <a:cs typeface="Arial"/>
              </a:defRPr>
            </a:lvl7pPr>
            <a:lvl8pPr algn="l">
              <a:defRPr sz="1725" b="1">
                <a:solidFill>
                  <a:srgbClr val="996017"/>
                </a:solidFill>
                <a:latin typeface="Arial"/>
                <a:ea typeface="Arial"/>
                <a:cs typeface="Arial"/>
              </a:defRPr>
            </a:lvl8pPr>
            <a:lvl9pPr algn="l">
              <a:defRPr sz="1725" b="1">
                <a:solidFill>
                  <a:srgbClr val="996017"/>
                </a:solidFill>
                <a:latin typeface="Arial"/>
                <a:ea typeface="Arial"/>
                <a:cs typeface="Arial"/>
              </a:defRPr>
            </a:lvl9pPr>
          </a:lstStyle>
          <a:p xmlns:a="http://schemas.openxmlformats.org/drawingml/2006/main">
            <a:pPr algn="l">
              <a:defRPr sz="1725" b="1">
                <a:solidFill>
                  <a:srgbClr val="996017"/>
                </a:solidFill>
                <a:latin typeface="Arial"/>
                <a:ea typeface="Arial"/>
                <a:cs typeface="Arial"/>
              </a:defRPr>
            </a:pPr>
            <a:r>
              <a:rPr sz="1725" b="1">
                <a:solidFill>
                  <a:srgbClr val="996017"/>
                </a:solidFill>
                <a:latin typeface="Arial"/>
                <a:ea typeface="Arial"/>
                <a:cs typeface="Arial"/>
              </a:rPr>
              <a:t>AutoCAD policy: user desktop only; unverified license / session stays HOLD.</a:t>
            </a:r>
          </a:p>
          <a:p xmlns:a="http://schemas.openxmlformats.org/drawingml/2006/main">
            <a:pPr algn="l">
              <a:defRPr sz="1725" b="1">
                <a:solidFill>
                  <a:srgbClr val="996017"/>
                </a:solidFill>
                <a:latin typeface="Arial"/>
                <a:ea typeface="Arial"/>
                <a:cs typeface="Arial"/>
              </a:defRPr>
            </a:pPr>
            <a:r>
              <a:rPr sz="1725" b="1">
                <a:solidFill>
                  <a:srgbClr val="996017"/>
                </a:solidFill>
                <a:latin typeface="Arial"/>
                <a:ea typeface="Arial"/>
                <a:cs typeface="Arial"/>
              </a:rPr>
              <a:t>Server / cloud always denied. No fallback or test bypass.</a:t>
            </a:r>
          </a:p>
        </p:txBody>
      </p:sp>
    </p:spTree>
    <p:extLst>
      <p:ext uri="{BB962C8B-B14F-4D97-AF65-F5344CB8AC3E}">
        <p14:creationId xmlns:p14="http://schemas.microsoft.com/office/powerpoint/2010/main" val="120455609"/>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11C3146-D186-4859-BFDA-E7AC8C601EED}"/>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Reused source and new package work</a:t>
            </a:r>
          </a:p>
        </p:txBody>
      </p:sp>
      <p:sp>
        <p:nvSpPr>
          <p:cNvPr id="2" name="subtitle">
            <a:extLst xmlns:a="http://schemas.openxmlformats.org/drawingml/2006/main">
              <a:ext uri="{FF2B5EF4-FFF2-40B4-BE49-F238E27FC236}">
                <a16:creationId xmlns:a16="http://schemas.microsoft.com/office/drawing/2014/main" id="{2A760847-5C28-4580-9BCA-071412100BA3}"/>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The source history stays distinct from new transferable construction.</a:t>
            </a:r>
          </a:p>
        </p:txBody>
      </p:sp>
      <p:sp>
        <p:nvSpPr>
          <p:cNvPr id="3" name="page">
            <a:extLst xmlns:a="http://schemas.openxmlformats.org/drawingml/2006/main">
              <a:ext uri="{FF2B5EF4-FFF2-40B4-BE49-F238E27FC236}">
                <a16:creationId xmlns:a16="http://schemas.microsoft.com/office/drawing/2014/main" id="{8C6021C1-B6C9-46D7-985C-A874087F10B3}"/>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7EBD7195-21A0-4064-A930-17E9F2B66D07}"/>
              </a:ext>
            </a:extLst>
          </p:cNvPr>
          <p:cNvGraphicFramePr/>
          <p:nvPr/>
        </p:nvGraphicFramePr>
        <p:xfrm>
          <a:off xmlns:a="http://schemas.openxmlformats.org/drawingml/2006/main" x="685800" y="2143125"/>
          <a:ext xmlns:a="http://schemas.openxmlformats.org/drawingml/2006/main" cx="10820400" cy="3352800"/>
        </p:xfrm>
        <a:graphic xmlns:a="http://schemas.openxmlformats.org/drawingml/2006/main">
          <a:graphicData uri="http://schemas.openxmlformats.org/drawingml/2006/table">
            <a:tbl>
              <a:tblPr firstRow="1" bandRow="0"/>
              <a:tblGrid>
                <a:gridCol w="4819650"/>
                <a:gridCol w="6000750"/>
              </a:tblGrid>
              <a:tr h="485775">
                <a:tc>
                  <a:txBody>
                    <a:bodyPr wrap="square" lIns="123825" tIns="76200" rIns="123825" bIns="76200">
                      <a:noAutofit/>
                    </a:bodyPr>
                    <a:lstStyle/>
                    <a:p>
                      <a:pPr algn="l"/>
                      <a:r>
                        <a:rPr sz="1725" b="1">
                          <a:solidFill>
                            <a:srgbClr val="FFFFFF"/>
                          </a:solidFill>
                          <a:latin typeface="Arial"/>
                          <a:ea typeface="Arial"/>
                          <a:cs typeface="Arial"/>
                        </a:rPr>
                        <a:t>Retained source</a:t>
                      </a:r>
                    </a:p>
                  </a:txBody>
                  <a:tcPr marL="91440" marR="91440" marT="45720" marB="45720" anchor="ctr">
                    <a:lnL w="9525">
                      <a:solidFill>
                        <a:srgbClr val="CDD8DE"/>
                      </a:solidFill>
                      <a:prstDash val="solid"/>
                    </a:lnL>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c>
                  <a:txBody>
                    <a:bodyPr wrap="square" lIns="123825" tIns="76200" rIns="123825" bIns="76200">
                      <a:noAutofit/>
                    </a:bodyPr>
                    <a:lstStyle/>
                    <a:p>
                      <a:pPr algn="l"/>
                      <a:r>
                        <a:rPr sz="1725" b="1">
                          <a:solidFill>
                            <a:srgbClr val="FFFFFF"/>
                          </a:solidFill>
                          <a:latin typeface="Arial"/>
                          <a:ea typeface="Arial"/>
                          <a:cs typeface="Arial"/>
                        </a:rPr>
                        <a:t>New package work</a:t>
                      </a:r>
                    </a:p>
                  </a:txBody>
                  <a:tcPr marL="91440" marR="91440" marT="45720" marB="45720" anchor="ctr">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r>
              <a:tr h="716756">
                <a:tc>
                  <a:txBody>
                    <a:bodyPr wrap="square" lIns="123825" tIns="76200" rIns="123825" bIns="76200">
                      <a:noAutofit/>
                    </a:bodyPr>
                    <a:lstStyle/>
                    <a:p>
                      <a:pPr algn="l"/>
                      <a:r>
                        <a:rPr sz="1725" b="0">
                          <a:solidFill>
                            <a:srgbClr val="142B3D"/>
                          </a:solidFill>
                          <a:latin typeface="Arial"/>
                          <a:ea typeface="Arial"/>
                          <a:cs typeface="Arial"/>
                        </a:rPr>
                        <a:t>WorkLedger + Intent Guard</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Portable command wrapper and fresh</a:t>
                      </a:r>
                    </a:p>
                    <a:p>
                      <a:pPr algn="l"/>
                      <a:r>
                        <a:rPr sz="1725" b="0">
                          <a:solidFill>
                            <a:srgbClr val="142B3D"/>
                          </a:solidFill>
                          <a:latin typeface="Arial"/>
                          <a:ea typeface="Arial"/>
                          <a:cs typeface="Arial"/>
                        </a:rPr>
                        <a:t>shared-root counterexamples</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716756">
                <a:tc>
                  <a:txBody>
                    <a:bodyPr wrap="square" lIns="123825" tIns="76200" rIns="123825" bIns="76200">
                      <a:noAutofit/>
                    </a:bodyPr>
                    <a:lstStyle/>
                    <a:p>
                      <a:pPr algn="l"/>
                      <a:r>
                        <a:rPr sz="1725" b="0">
                          <a:solidFill>
                            <a:srgbClr val="142B3D"/>
                          </a:solidFill>
                          <a:latin typeface="Arial"/>
                          <a:ea typeface="Arial"/>
                          <a:cs typeface="Arial"/>
                        </a:rPr>
                        <a:t>Typed Graph + retained code fixtures</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Source checks and current tests;</a:t>
                      </a:r>
                    </a:p>
                    <a:p>
                      <a:pPr algn="l"/>
                      <a:r>
                        <a:rPr sz="1725" b="0">
                          <a:solidFill>
                            <a:srgbClr val="142B3D"/>
                          </a:solidFill>
                          <a:latin typeface="Arial"/>
                          <a:ea typeface="Arial"/>
                          <a:cs typeface="Arial"/>
                        </a:rPr>
                        <a:t>no new model generation</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716756">
                <a:tc>
                  <a:txBody>
                    <a:bodyPr wrap="square" lIns="123825" tIns="76200" rIns="123825" bIns="76200">
                      <a:noAutofit/>
                    </a:bodyPr>
                    <a:lstStyle/>
                    <a:p>
                      <a:pPr algn="l"/>
                      <a:r>
                        <a:rPr sz="1725" b="0">
                          <a:solidFill>
                            <a:srgbClr val="142B3D"/>
                          </a:solidFill>
                          <a:latin typeface="Arial"/>
                          <a:ea typeface="Arial"/>
                          <a:cs typeface="Arial"/>
                        </a:rPr>
                        <a:t>YamRail/OSINT PR79 / PR62 line</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Local source-linked A4 report</a:t>
                      </a:r>
                    </a:p>
                    <a:p>
                      <a:pPr algn="l"/>
                      <a:r>
                        <a:rPr sz="1725" b="0">
                          <a:solidFill>
                            <a:srgbClr val="142B3D"/>
                          </a:solidFill>
                          <a:latin typeface="Arial"/>
                          <a:ea typeface="Arial"/>
                          <a:cs typeface="Arial"/>
                        </a:rPr>
                        <a:t>and graph exports</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716756">
                <a:tc>
                  <a:txBody>
                    <a:bodyPr wrap="square" lIns="123825" tIns="76200" rIns="123825" bIns="76200">
                      <a:noAutofit/>
                    </a:bodyPr>
                    <a:lstStyle/>
                    <a:p>
                      <a:pPr algn="l"/>
                      <a:r>
                        <a:rPr sz="1725" b="0">
                          <a:solidFill>
                            <a:srgbClr val="142B3D"/>
                          </a:solidFill>
                          <a:latin typeface="Arial"/>
                          <a:ea typeface="Arial"/>
                          <a:cs typeface="Arial"/>
                        </a:rPr>
                        <a:t>Existing tool-source shelf</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Origin and license inventory; source</a:t>
                      </a:r>
                    </a:p>
                    <a:p>
                      <a:pPr algn="l"/>
                      <a:r>
                        <a:rPr sz="1725" b="0">
                          <a:solidFill>
                            <a:srgbClr val="142B3D"/>
                          </a:solidFill>
                          <a:latin typeface="Arial"/>
                          <a:ea typeface="Arial"/>
                          <a:cs typeface="Arial"/>
                        </a:rPr>
                        <a:t>import grants no execution authority</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bl>
          </a:graphicData>
        </a:graphic>
      </p:graphicFrame>
      <p:sp>
        <p:nvSpPr>
          <p:cNvPr id="5" name="scope">
            <a:extLst xmlns:a="http://schemas.openxmlformats.org/drawingml/2006/main">
              <a:ext uri="{FF2B5EF4-FFF2-40B4-BE49-F238E27FC236}">
                <a16:creationId xmlns:a16="http://schemas.microsoft.com/office/drawing/2014/main" id="{1F6FC171-51A3-45BD-A8C6-908E97F90C49}"/>
              </a:ext>
            </a:extLst>
          </p:cNvPr>
          <p:cNvSpPr>
            <a:spLocks xmlns:a="http://schemas.openxmlformats.org/drawingml/2006/main" noGrp="1"/>
          </p:cNvSpPr>
          <p:nvPr/>
        </p:nvSpPr>
        <p:spPr>
          <a:xfrm xmlns:a="http://schemas.openxmlformats.org/drawingml/2006/main">
            <a:off x="685800" y="577215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E6575"/>
                </a:solidFill>
                <a:latin typeface="Arial"/>
                <a:ea typeface="Arial"/>
                <a:cs typeface="Arial"/>
              </a:defRPr>
            </a:defPPr>
            <a:lvl1pPr algn="l">
              <a:defRPr sz="1725" b="0">
                <a:solidFill>
                  <a:srgbClr val="4E6575"/>
                </a:solidFill>
                <a:latin typeface="Arial"/>
                <a:ea typeface="Arial"/>
                <a:cs typeface="Arial"/>
              </a:defRPr>
            </a:lvl1pPr>
            <a:lvl2pPr algn="l">
              <a:defRPr sz="1725" b="0">
                <a:solidFill>
                  <a:srgbClr val="4E6575"/>
                </a:solidFill>
                <a:latin typeface="Arial"/>
                <a:ea typeface="Arial"/>
                <a:cs typeface="Arial"/>
              </a:defRPr>
            </a:lvl2pPr>
            <a:lvl3pPr algn="l">
              <a:defRPr sz="1725" b="0">
                <a:solidFill>
                  <a:srgbClr val="4E6575"/>
                </a:solidFill>
                <a:latin typeface="Arial"/>
                <a:ea typeface="Arial"/>
                <a:cs typeface="Arial"/>
              </a:defRPr>
            </a:lvl3pPr>
            <a:lvl4pPr algn="l">
              <a:defRPr sz="1725" b="0">
                <a:solidFill>
                  <a:srgbClr val="4E6575"/>
                </a:solidFill>
                <a:latin typeface="Arial"/>
                <a:ea typeface="Arial"/>
                <a:cs typeface="Arial"/>
              </a:defRPr>
            </a:lvl4pPr>
            <a:lvl5pPr algn="l">
              <a:defRPr sz="1725" b="0">
                <a:solidFill>
                  <a:srgbClr val="4E6575"/>
                </a:solidFill>
                <a:latin typeface="Arial"/>
                <a:ea typeface="Arial"/>
                <a:cs typeface="Arial"/>
              </a:defRPr>
            </a:lvl5pPr>
            <a:lvl6pPr algn="l">
              <a:defRPr sz="1725" b="0">
                <a:solidFill>
                  <a:srgbClr val="4E6575"/>
                </a:solidFill>
                <a:latin typeface="Arial"/>
                <a:ea typeface="Arial"/>
                <a:cs typeface="Arial"/>
              </a:defRPr>
            </a:lvl6pPr>
            <a:lvl7pPr algn="l">
              <a:defRPr sz="1725" b="0">
                <a:solidFill>
                  <a:srgbClr val="4E6575"/>
                </a:solidFill>
                <a:latin typeface="Arial"/>
                <a:ea typeface="Arial"/>
                <a:cs typeface="Arial"/>
              </a:defRPr>
            </a:lvl7pPr>
            <a:lvl8pPr algn="l">
              <a:defRPr sz="1725" b="0">
                <a:solidFill>
                  <a:srgbClr val="4E6575"/>
                </a:solidFill>
                <a:latin typeface="Arial"/>
                <a:ea typeface="Arial"/>
                <a:cs typeface="Arial"/>
              </a:defRPr>
            </a:lvl8pPr>
            <a:lvl9pPr algn="l">
              <a:defRPr sz="1725" b="0">
                <a:solidFill>
                  <a:srgbClr val="4E6575"/>
                </a:solidFill>
                <a:latin typeface="Arial"/>
                <a:ea typeface="Arial"/>
                <a:cs typeface="Arial"/>
              </a:defRPr>
            </a:lvl9pPr>
          </a:lstStyle>
          <a:p xmlns:a="http://schemas.openxmlformats.org/drawingml/2006/main">
            <a:pPr algn="l">
              <a:defRPr sz="1725" b="0">
                <a:solidFill>
                  <a:srgbClr val="4E6575"/>
                </a:solidFill>
                <a:latin typeface="Arial"/>
                <a:ea typeface="Arial"/>
                <a:cs typeface="Arial"/>
              </a:defRPr>
            </a:pPr>
            <a:r>
              <a:rPr sz="1725" b="0">
                <a:solidFill>
                  <a:srgbClr val="4E6575"/>
                </a:solidFill>
                <a:latin typeface="Arial"/>
                <a:ea typeface="Arial"/>
                <a:cs typeface="Arial"/>
              </a:rPr>
              <a:t>Observed scope: Windows 11 / Python 3.12.10. This capture is not another-machine or VM proof.</a:t>
            </a:r>
          </a:p>
        </p:txBody>
      </p:sp>
    </p:spTree>
    <p:extLst>
      <p:ext uri="{BB962C8B-B14F-4D97-AF65-F5344CB8AC3E}">
        <p14:creationId xmlns:p14="http://schemas.microsoft.com/office/powerpoint/2010/main" val="1256254492"/>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C50AF2E-64BA-4865-9666-C3712E84D238}"/>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Sponsor use and the current eligibility gap</a:t>
            </a:r>
          </a:p>
        </p:txBody>
      </p:sp>
      <p:sp>
        <p:nvSpPr>
          <p:cNvPr id="2" name="subtitle">
            <a:extLst xmlns:a="http://schemas.openxmlformats.org/drawingml/2006/main">
              <a:ext uri="{FF2B5EF4-FFF2-40B4-BE49-F238E27FC236}">
                <a16:creationId xmlns:a16="http://schemas.microsoft.com/office/drawing/2014/main" id="{AAD4D0AE-2D9F-46D6-8775-F0CD9D3FADAE}"/>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A working offline demo and the required live sponsor request have separate evidence.</a:t>
            </a:r>
          </a:p>
        </p:txBody>
      </p:sp>
      <p:sp>
        <p:nvSpPr>
          <p:cNvPr id="3" name="page">
            <a:extLst xmlns:a="http://schemas.openxmlformats.org/drawingml/2006/main">
              <a:ext uri="{FF2B5EF4-FFF2-40B4-BE49-F238E27FC236}">
                <a16:creationId xmlns:a16="http://schemas.microsoft.com/office/drawing/2014/main" id="{AB39AC96-8A6B-4F43-BEDF-1124D2A9C93F}"/>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7D890766-14F0-42C6-85F8-FFAC433845FA}"/>
              </a:ext>
            </a:extLst>
          </p:cNvPr>
          <p:cNvGraphicFramePr/>
          <p:nvPr/>
        </p:nvGraphicFramePr>
        <p:xfrm>
          <a:off xmlns:a="http://schemas.openxmlformats.org/drawingml/2006/main" x="685800" y="2124075"/>
          <a:ext xmlns:a="http://schemas.openxmlformats.org/drawingml/2006/main" cx="10820400" cy="3362325"/>
        </p:xfrm>
        <a:graphic xmlns:a="http://schemas.openxmlformats.org/drawingml/2006/main">
          <a:graphicData uri="http://schemas.openxmlformats.org/drawingml/2006/table">
            <a:tbl>
              <a:tblPr firstRow="1" bandRow="0"/>
              <a:tblGrid>
                <a:gridCol w="2809875"/>
                <a:gridCol w="4124325"/>
                <a:gridCol w="3886200"/>
              </a:tblGrid>
              <a:tr h="485775">
                <a:tc>
                  <a:txBody>
                    <a:bodyPr wrap="square" lIns="123825" tIns="76200" rIns="123825" bIns="76200">
                      <a:noAutofit/>
                    </a:bodyPr>
                    <a:lstStyle/>
                    <a:p>
                      <a:pPr algn="l"/>
                      <a:r>
                        <a:rPr sz="1725" b="1">
                          <a:solidFill>
                            <a:srgbClr val="FFFFFF"/>
                          </a:solidFill>
                          <a:latin typeface="Arial"/>
                          <a:ea typeface="Arial"/>
                          <a:cs typeface="Arial"/>
                        </a:rPr>
                        <a:t>Technology</a:t>
                      </a:r>
                    </a:p>
                  </a:txBody>
                  <a:tcPr marL="91440" marR="91440" marT="45720" marB="45720" anchor="ctr">
                    <a:lnL w="9525">
                      <a:solidFill>
                        <a:srgbClr val="CDD8DE"/>
                      </a:solidFill>
                      <a:prstDash val="solid"/>
                    </a:lnL>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c>
                  <a:txBody>
                    <a:bodyPr wrap="square" lIns="123825" tIns="76200" rIns="123825" bIns="76200">
                      <a:noAutofit/>
                    </a:bodyPr>
                    <a:lstStyle/>
                    <a:p>
                      <a:pPr algn="l"/>
                      <a:r>
                        <a:rPr sz="1725" b="1">
                          <a:solidFill>
                            <a:srgbClr val="FFFFFF"/>
                          </a:solidFill>
                          <a:latin typeface="Arial"/>
                          <a:ea typeface="Arial"/>
                          <a:cs typeface="Arial"/>
                        </a:rPr>
                        <a:t>Current evidence</a:t>
                      </a:r>
                    </a:p>
                  </a:txBody>
                  <a:tcPr marL="91440" marR="91440" marT="45720" marB="45720" anchor="ctr">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c>
                  <a:txBody>
                    <a:bodyPr wrap="square" lIns="123825" tIns="76200" rIns="123825" bIns="76200">
                      <a:noAutofit/>
                    </a:bodyPr>
                    <a:lstStyle/>
                    <a:p>
                      <a:pPr algn="l"/>
                      <a:r>
                        <a:rPr sz="1725" b="1">
                          <a:solidFill>
                            <a:srgbClr val="FFFFFF"/>
                          </a:solidFill>
                          <a:latin typeface="Arial"/>
                          <a:ea typeface="Arial"/>
                          <a:cs typeface="Arial"/>
                        </a:rPr>
                        <a:t>Remaining closure</a:t>
                      </a:r>
                    </a:p>
                  </a:txBody>
                  <a:tcPr marL="91440" marR="91440" marT="45720" marB="45720" anchor="ctr">
                    <a:lnR w="9525">
                      <a:solidFill>
                        <a:srgbClr val="CDD8DE"/>
                      </a:solidFill>
                      <a:prstDash val="solid"/>
                    </a:lnR>
                    <a:lnT w="9525">
                      <a:solidFill>
                        <a:srgbClr val="CDD8DE"/>
                      </a:solidFill>
                      <a:prstDash val="solid"/>
                    </a:lnT>
                    <a:lnB w="9525">
                      <a:solidFill>
                        <a:srgbClr val="CDD8DE"/>
                      </a:solidFill>
                      <a:prstDash val="solid"/>
                    </a:lnB>
                    <a:solidFill>
                      <a:srgbClr val="142B3D"/>
                    </a:solidFill>
                  </a:tcPr>
                </a:tc>
              </a:tr>
              <a:tr h="719138">
                <a:tc>
                  <a:txBody>
                    <a:bodyPr wrap="square" lIns="123825" tIns="76200" rIns="123825" bIns="76200">
                      <a:noAutofit/>
                    </a:bodyPr>
                    <a:lstStyle/>
                    <a:p>
                      <a:pPr algn="l"/>
                      <a:r>
                        <a:rPr sz="1725" b="0">
                          <a:solidFill>
                            <a:srgbClr val="142B3D"/>
                          </a:solidFill>
                          <a:latin typeface="Arial"/>
                          <a:ea typeface="Arial"/>
                          <a:cs typeface="Arial"/>
                        </a:rPr>
                        <a:t>Meterless World Model</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Upstream engine ran locally</a:t>
                      </a:r>
                    </a:p>
                    <a:p>
                      <a:pPr algn="l"/>
                      <a:r>
                        <a:rPr sz="1725" b="0">
                          <a:solidFill>
                            <a:srgbClr val="142B3D"/>
                          </a:solidFill>
                          <a:latin typeface="Arial"/>
                          <a:ea typeface="Arial"/>
                          <a:cs typeface="Arial"/>
                        </a:rPr>
                        <a:t>Current read projection</a:t>
                      </a:r>
                    </a:p>
                  </a:txBody>
                  <a:tcPr marL="91440" marR="91440" marT="45720" marB="45720" anchor="ctr">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Keep engine/test evidence</a:t>
                      </a:r>
                    </a:p>
                    <a:p>
                      <a:pPr algn="l"/>
                      <a:r>
                        <a:rPr sz="1725" b="0">
                          <a:solidFill>
                            <a:srgbClr val="142B3D"/>
                          </a:solidFill>
                          <a:latin typeface="Arial"/>
                          <a:ea typeface="Arial"/>
                          <a:cs typeface="Arial"/>
                        </a:rPr>
                        <a:t>and source-of-truth boundary</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719138">
                <a:tc>
                  <a:txBody>
                    <a:bodyPr wrap="square" lIns="123825" tIns="76200" rIns="123825" bIns="76200">
                      <a:noAutofit/>
                    </a:bodyPr>
                    <a:lstStyle/>
                    <a:p>
                      <a:pPr algn="l"/>
                      <a:r>
                        <a:rPr sz="1725" b="0">
                          <a:solidFill>
                            <a:srgbClr val="142B3D"/>
                          </a:solidFill>
                          <a:latin typeface="Arial"/>
                          <a:ea typeface="Arial"/>
                          <a:cs typeface="Arial"/>
                        </a:rPr>
                        <a:t>Nightshift / NVIDIA</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HOLD</a:t>
                      </a:r>
                    </a:p>
                    <a:p>
                      <a:pPr algn="l"/>
                      <a:r>
                        <a:rPr sz="1725" b="0">
                          <a:solidFill>
                            <a:srgbClr val="142B3D"/>
                          </a:solidFill>
                          <a:latin typeface="Arial"/>
                          <a:ea typeface="Arial"/>
                          <a:cs typeface="Arial"/>
                        </a:rPr>
                        <a:t>No live inference receipt</a:t>
                      </a:r>
                    </a:p>
                  </a:txBody>
                  <a:tcPr marL="91440" marR="91440" marT="45720" marB="45720" anchor="ctr">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Authorized real Nightshift</a:t>
                      </a:r>
                    </a:p>
                    <a:p>
                      <a:pPr algn="l"/>
                      <a:r>
                        <a:rPr sz="1725" b="0">
                          <a:solidFill>
                            <a:srgbClr val="142B3D"/>
                          </a:solidFill>
                          <a:latin typeface="Arial"/>
                          <a:ea typeface="Arial"/>
                          <a:cs typeface="Arial"/>
                        </a:rPr>
                        <a:t>request with backend evidence</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719138">
                <a:tc>
                  <a:txBody>
                    <a:bodyPr wrap="square" lIns="123825" tIns="76200" rIns="123825" bIns="76200">
                      <a:noAutofit/>
                    </a:bodyPr>
                    <a:lstStyle/>
                    <a:p>
                      <a:pPr algn="l"/>
                      <a:r>
                        <a:rPr sz="1725" b="0">
                          <a:solidFill>
                            <a:srgbClr val="142B3D"/>
                          </a:solidFill>
                          <a:latin typeface="Arial"/>
                          <a:ea typeface="Arial"/>
                          <a:cs typeface="Arial"/>
                        </a:rPr>
                        <a:t>Zetaris</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HOLD</a:t>
                      </a:r>
                    </a:p>
                    <a:p>
                      <a:pPr algn="l"/>
                      <a:r>
                        <a:rPr sz="1725" b="0">
                          <a:solidFill>
                            <a:srgbClr val="142B3D"/>
                          </a:solidFill>
                          <a:latin typeface="Arial"/>
                          <a:ea typeface="Arial"/>
                          <a:cs typeface="Arial"/>
                        </a:rPr>
                        <a:t>No real query receipt</a:t>
                      </a:r>
                    </a:p>
                  </a:txBody>
                  <a:tcPr marL="91440" marR="91440" marT="45720" marB="45720" anchor="ctr">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Authorized data read</a:t>
                      </a:r>
                    </a:p>
                    <a:p>
                      <a:pPr algn="l"/>
                      <a:r>
                        <a:rPr sz="1725" b="0">
                          <a:solidFill>
                            <a:srgbClr val="142B3D"/>
                          </a:solidFill>
                          <a:latin typeface="Arial"/>
                          <a:ea typeface="Arial"/>
                          <a:cs typeface="Arial"/>
                        </a:rPr>
                        <a:t>with source and row evidence</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r h="719138">
                <a:tc>
                  <a:txBody>
                    <a:bodyPr wrap="square" lIns="123825" tIns="76200" rIns="123825" bIns="76200">
                      <a:noAutofit/>
                    </a:bodyPr>
                    <a:lstStyle/>
                    <a:p>
                      <a:pPr algn="l"/>
                      <a:r>
                        <a:rPr sz="1725" b="0">
                          <a:solidFill>
                            <a:srgbClr val="142B3D"/>
                          </a:solidFill>
                          <a:latin typeface="Arial"/>
                          <a:ea typeface="Arial"/>
                          <a:cs typeface="Arial"/>
                        </a:rPr>
                        <a:t>Development tool</a:t>
                      </a:r>
                    </a:p>
                  </a:txBody>
                  <a:tcPr marL="91440" marR="91440" marT="45720" marB="45720" anchor="ctr">
                    <a:lnL w="9525">
                      <a:solidFill>
                        <a:srgbClr val="CDD8DE"/>
                      </a:solidFill>
                      <a:prstDash val="solid"/>
                    </a:lnL>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Actual Codex construction</a:t>
                      </a:r>
                    </a:p>
                    <a:p>
                      <a:pPr algn="l"/>
                      <a:r>
                        <a:rPr sz="1725" b="0">
                          <a:solidFill>
                            <a:srgbClr val="142B3D"/>
                          </a:solidFill>
                          <a:latin typeface="Arial"/>
                          <a:ea typeface="Arial"/>
                          <a:cs typeface="Arial"/>
                        </a:rPr>
                        <a:t>Cursor use unexecuted</a:t>
                      </a:r>
                    </a:p>
                  </a:txBody>
                  <a:tcPr marL="91440" marR="91440" marT="45720" marB="45720" anchor="ctr">
                    <a:lnR w="9525">
                      <a:solidFill>
                        <a:srgbClr val="CDD8DE"/>
                      </a:solidFill>
                      <a:prstDash val="solid"/>
                    </a:lnR>
                    <a:lnB w="9525">
                      <a:solidFill>
                        <a:srgbClr val="CDD8DE"/>
                      </a:solidFill>
                      <a:prstDash val="solid"/>
                    </a:lnB>
                    <a:solidFill>
                      <a:srgbClr val="FFFFFF"/>
                    </a:solidFill>
                  </a:tcPr>
                </a:tc>
                <a:tc>
                  <a:txBody>
                    <a:bodyPr wrap="square" lIns="123825" tIns="76200" rIns="123825" bIns="76200">
                      <a:noAutofit/>
                    </a:bodyPr>
                    <a:lstStyle/>
                    <a:p>
                      <a:pPr algn="l"/>
                      <a:r>
                        <a:rPr sz="1725" b="0">
                          <a:solidFill>
                            <a:srgbClr val="142B3D"/>
                          </a:solidFill>
                          <a:latin typeface="Arial"/>
                          <a:ea typeface="Arial"/>
                          <a:cs typeface="Arial"/>
                        </a:rPr>
                        <a:t>Any AI coding tool allowed</a:t>
                      </a:r>
                    </a:p>
                    <a:p>
                      <a:pPr algn="l"/>
                      <a:r>
                        <a:rPr sz="1725" b="0">
                          <a:solidFill>
                            <a:srgbClr val="142B3D"/>
                          </a:solidFill>
                          <a:latin typeface="Arial"/>
                          <a:ea typeface="Arial"/>
                          <a:cs typeface="Arial"/>
                        </a:rPr>
                        <a:t>under current Academy FAQ</a:t>
                      </a:r>
                    </a:p>
                  </a:txBody>
                  <a:tcPr marL="91440" marR="91440" marT="45720" marB="45720" anchor="ctr">
                    <a:lnR w="9525">
                      <a:solidFill>
                        <a:srgbClr val="CDD8DE"/>
                      </a:solidFill>
                      <a:prstDash val="solid"/>
                    </a:lnR>
                    <a:lnB w="9525">
                      <a:solidFill>
                        <a:srgbClr val="CDD8DE"/>
                      </a:solidFill>
                      <a:prstDash val="solid"/>
                    </a:lnB>
                    <a:solidFill>
                      <a:srgbClr val="FFFFFF"/>
                    </a:solidFill>
                  </a:tcPr>
                </a:tc>
              </a:tr>
            </a:tbl>
          </a:graphicData>
        </a:graphic>
      </p:graphicFrame>
      <p:sp>
        <p:nvSpPr>
          <p:cNvPr id="5" name="current-rules">
            <a:extLst xmlns:a="http://schemas.openxmlformats.org/drawingml/2006/main">
              <a:ext uri="{FF2B5EF4-FFF2-40B4-BE49-F238E27FC236}">
                <a16:creationId xmlns:a16="http://schemas.microsoft.com/office/drawing/2014/main" id="{7D1C1A23-EF21-475D-B289-771FF2ED0FF6}"/>
              </a:ext>
            </a:extLst>
          </p:cNvPr>
          <p:cNvSpPr>
            <a:spLocks xmlns:a="http://schemas.openxmlformats.org/drawingml/2006/main" noGrp="1"/>
          </p:cNvSpPr>
          <p:nvPr/>
        </p:nvSpPr>
        <p:spPr>
          <a:xfrm xmlns:a="http://schemas.openxmlformats.org/drawingml/2006/main">
            <a:off x="685800" y="576262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96017"/>
                </a:solidFill>
                <a:latin typeface="Arial"/>
                <a:ea typeface="Arial"/>
                <a:cs typeface="Arial"/>
              </a:defRPr>
            </a:defPPr>
            <a:lvl1pPr algn="l">
              <a:defRPr sz="1875" b="1">
                <a:solidFill>
                  <a:srgbClr val="996017"/>
                </a:solidFill>
                <a:latin typeface="Arial"/>
                <a:ea typeface="Arial"/>
                <a:cs typeface="Arial"/>
              </a:defRPr>
            </a:lvl1pPr>
            <a:lvl2pPr algn="l">
              <a:defRPr sz="1875" b="1">
                <a:solidFill>
                  <a:srgbClr val="996017"/>
                </a:solidFill>
                <a:latin typeface="Arial"/>
                <a:ea typeface="Arial"/>
                <a:cs typeface="Arial"/>
              </a:defRPr>
            </a:lvl2pPr>
            <a:lvl3pPr algn="l">
              <a:defRPr sz="1875" b="1">
                <a:solidFill>
                  <a:srgbClr val="996017"/>
                </a:solidFill>
                <a:latin typeface="Arial"/>
                <a:ea typeface="Arial"/>
                <a:cs typeface="Arial"/>
              </a:defRPr>
            </a:lvl3pPr>
            <a:lvl4pPr algn="l">
              <a:defRPr sz="1875" b="1">
                <a:solidFill>
                  <a:srgbClr val="996017"/>
                </a:solidFill>
                <a:latin typeface="Arial"/>
                <a:ea typeface="Arial"/>
                <a:cs typeface="Arial"/>
              </a:defRPr>
            </a:lvl4pPr>
            <a:lvl5pPr algn="l">
              <a:defRPr sz="1875" b="1">
                <a:solidFill>
                  <a:srgbClr val="996017"/>
                </a:solidFill>
                <a:latin typeface="Arial"/>
                <a:ea typeface="Arial"/>
                <a:cs typeface="Arial"/>
              </a:defRPr>
            </a:lvl5pPr>
            <a:lvl6pPr algn="l">
              <a:defRPr sz="1875" b="1">
                <a:solidFill>
                  <a:srgbClr val="996017"/>
                </a:solidFill>
                <a:latin typeface="Arial"/>
                <a:ea typeface="Arial"/>
                <a:cs typeface="Arial"/>
              </a:defRPr>
            </a:lvl6pPr>
            <a:lvl7pPr algn="l">
              <a:defRPr sz="1875" b="1">
                <a:solidFill>
                  <a:srgbClr val="996017"/>
                </a:solidFill>
                <a:latin typeface="Arial"/>
                <a:ea typeface="Arial"/>
                <a:cs typeface="Arial"/>
              </a:defRPr>
            </a:lvl7pPr>
            <a:lvl8pPr algn="l">
              <a:defRPr sz="1875" b="1">
                <a:solidFill>
                  <a:srgbClr val="996017"/>
                </a:solidFill>
                <a:latin typeface="Arial"/>
                <a:ea typeface="Arial"/>
                <a:cs typeface="Arial"/>
              </a:defRPr>
            </a:lvl8pPr>
            <a:lvl9pPr algn="l">
              <a:defRPr sz="1875" b="1">
                <a:solidFill>
                  <a:srgbClr val="996017"/>
                </a:solidFill>
                <a:latin typeface="Arial"/>
                <a:ea typeface="Arial"/>
                <a:cs typeface="Arial"/>
              </a:defRPr>
            </a:lvl9pPr>
          </a:lstStyle>
          <a:p xmlns:a="http://schemas.openxmlformats.org/drawingml/2006/main">
            <a:pPr algn="l">
              <a:defRPr sz="1875" b="1">
                <a:solidFill>
                  <a:srgbClr val="996017"/>
                </a:solidFill>
                <a:latin typeface="Arial"/>
                <a:ea typeface="Arial"/>
                <a:cs typeface="Arial"/>
              </a:defRPr>
            </a:pPr>
            <a:r>
              <a:rPr sz="1875" b="1">
                <a:solidFill>
                  <a:srgbClr val="996017"/>
                </a:solidFill>
                <a:latin typeface="Arial"/>
                <a:ea typeface="Arial"/>
                <a:cs typeface="Arial"/>
              </a:rPr>
              <a:t>Current Academy rules ask for a real Nightshift request in the demo.</a:t>
            </a:r>
          </a:p>
        </p:txBody>
      </p:sp>
    </p:spTree>
    <p:extLst>
      <p:ext uri="{BB962C8B-B14F-4D97-AF65-F5344CB8AC3E}">
        <p14:creationId xmlns:p14="http://schemas.microsoft.com/office/powerpoint/2010/main" val="1918149502"/>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C15CC3A-5B69-4E1F-AC8C-E0801D031D6D}"/>
              </a:ext>
            </a:extLst>
          </p:cNvPr>
          <p:cNvSpPr>
            <a:spLocks xmlns:a="http://schemas.openxmlformats.org/drawingml/2006/main" noGrp="1"/>
          </p:cNvSpPr>
          <p:nvPr/>
        </p:nvSpPr>
        <p:spPr>
          <a:xfrm xmlns:a="http://schemas.openxmlformats.org/drawingml/2006/main">
            <a:off x="685800" y="49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3D"/>
                </a:solidFill>
                <a:latin typeface="Arial"/>
                <a:ea typeface="Arial"/>
                <a:cs typeface="Arial"/>
              </a:defRPr>
            </a:defPPr>
            <a:lvl1pPr algn="l">
              <a:defRPr sz="3450" b="1">
                <a:solidFill>
                  <a:srgbClr val="142B3D"/>
                </a:solidFill>
                <a:latin typeface="Arial"/>
                <a:ea typeface="Arial"/>
                <a:cs typeface="Arial"/>
              </a:defRPr>
            </a:lvl1pPr>
            <a:lvl2pPr algn="l">
              <a:defRPr sz="3450" b="1">
                <a:solidFill>
                  <a:srgbClr val="142B3D"/>
                </a:solidFill>
                <a:latin typeface="Arial"/>
                <a:ea typeface="Arial"/>
                <a:cs typeface="Arial"/>
              </a:defRPr>
            </a:lvl2pPr>
            <a:lvl3pPr algn="l">
              <a:defRPr sz="3450" b="1">
                <a:solidFill>
                  <a:srgbClr val="142B3D"/>
                </a:solidFill>
                <a:latin typeface="Arial"/>
                <a:ea typeface="Arial"/>
                <a:cs typeface="Arial"/>
              </a:defRPr>
            </a:lvl3pPr>
            <a:lvl4pPr algn="l">
              <a:defRPr sz="3450" b="1">
                <a:solidFill>
                  <a:srgbClr val="142B3D"/>
                </a:solidFill>
                <a:latin typeface="Arial"/>
                <a:ea typeface="Arial"/>
                <a:cs typeface="Arial"/>
              </a:defRPr>
            </a:lvl4pPr>
            <a:lvl5pPr algn="l">
              <a:defRPr sz="3450" b="1">
                <a:solidFill>
                  <a:srgbClr val="142B3D"/>
                </a:solidFill>
                <a:latin typeface="Arial"/>
                <a:ea typeface="Arial"/>
                <a:cs typeface="Arial"/>
              </a:defRPr>
            </a:lvl5pPr>
            <a:lvl6pPr algn="l">
              <a:defRPr sz="3450" b="1">
                <a:solidFill>
                  <a:srgbClr val="142B3D"/>
                </a:solidFill>
                <a:latin typeface="Arial"/>
                <a:ea typeface="Arial"/>
                <a:cs typeface="Arial"/>
              </a:defRPr>
            </a:lvl6pPr>
            <a:lvl7pPr algn="l">
              <a:defRPr sz="3450" b="1">
                <a:solidFill>
                  <a:srgbClr val="142B3D"/>
                </a:solidFill>
                <a:latin typeface="Arial"/>
                <a:ea typeface="Arial"/>
                <a:cs typeface="Arial"/>
              </a:defRPr>
            </a:lvl7pPr>
            <a:lvl8pPr algn="l">
              <a:defRPr sz="3450" b="1">
                <a:solidFill>
                  <a:srgbClr val="142B3D"/>
                </a:solidFill>
                <a:latin typeface="Arial"/>
                <a:ea typeface="Arial"/>
                <a:cs typeface="Arial"/>
              </a:defRPr>
            </a:lvl8pPr>
            <a:lvl9pPr algn="l">
              <a:defRPr sz="3450" b="1">
                <a:solidFill>
                  <a:srgbClr val="142B3D"/>
                </a:solidFill>
                <a:latin typeface="Arial"/>
                <a:ea typeface="Arial"/>
                <a:cs typeface="Arial"/>
              </a:defRPr>
            </a:lvl9pPr>
          </a:lstStyle>
          <a:p xmlns:a="http://schemas.openxmlformats.org/drawingml/2006/main">
            <a:pPr algn="l">
              <a:defRPr sz="3450" b="1">
                <a:solidFill>
                  <a:srgbClr val="142B3D"/>
                </a:solidFill>
                <a:latin typeface="Arial"/>
                <a:ea typeface="Arial"/>
                <a:cs typeface="Arial"/>
              </a:defRPr>
            </a:pPr>
            <a:r>
              <a:rPr sz="3450" b="1">
                <a:solidFill>
                  <a:srgbClr val="142B3D"/>
                </a:solidFill>
                <a:latin typeface="Arial"/>
                <a:ea typeface="Arial"/>
                <a:cs typeface="Arial"/>
              </a:rPr>
              <a:t>Reproduction and the next acceptance step</a:t>
            </a:r>
          </a:p>
        </p:txBody>
      </p:sp>
      <p:sp>
        <p:nvSpPr>
          <p:cNvPr id="2" name="subtitle">
            <a:extLst xmlns:a="http://schemas.openxmlformats.org/drawingml/2006/main">
              <a:ext uri="{FF2B5EF4-FFF2-40B4-BE49-F238E27FC236}">
                <a16:creationId xmlns:a16="http://schemas.microsoft.com/office/drawing/2014/main" id="{60183A4E-1FCD-46A7-A63E-2E82ACCF16DD}"/>
              </a:ext>
            </a:extLst>
          </p:cNvPr>
          <p:cNvSpPr>
            <a:spLocks xmlns:a="http://schemas.openxmlformats.org/drawingml/2006/main" noGrp="1"/>
          </p:cNvSpPr>
          <p:nvPr/>
        </p:nvSpPr>
        <p:spPr>
          <a:xfrm xmlns:a="http://schemas.openxmlformats.org/drawingml/2006/main">
            <a:off x="685800" y="135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The package carries its entry point, safe fixtures and labelled evidence.</a:t>
            </a:r>
          </a:p>
        </p:txBody>
      </p:sp>
      <p:sp>
        <p:nvSpPr>
          <p:cNvPr id="3" name="page">
            <a:extLst xmlns:a="http://schemas.openxmlformats.org/drawingml/2006/main">
              <a:ext uri="{FF2B5EF4-FFF2-40B4-BE49-F238E27FC236}">
                <a16:creationId xmlns:a16="http://schemas.microsoft.com/office/drawing/2014/main" id="{F12417EA-67FF-4BF5-8C14-D58FE81EABF1}"/>
              </a:ext>
            </a:extLst>
          </p:cNvPr>
          <p:cNvSpPr>
            <a:spLocks xmlns:a="http://schemas.openxmlformats.org/drawingml/2006/main" noGrp="1"/>
          </p:cNvSpPr>
          <p:nvPr/>
        </p:nvSpPr>
        <p:spPr>
          <a:xfrm xmlns:a="http://schemas.openxmlformats.org/drawingml/2006/main">
            <a:off x="110490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E6575"/>
                </a:solidFill>
                <a:latin typeface="Arial"/>
                <a:ea typeface="Arial"/>
                <a:cs typeface="Arial"/>
              </a:defRPr>
            </a:defPPr>
            <a:lvl1pPr algn="r">
              <a:defRPr sz="1350" b="0">
                <a:solidFill>
                  <a:srgbClr val="4E6575"/>
                </a:solidFill>
                <a:latin typeface="Arial"/>
                <a:ea typeface="Arial"/>
                <a:cs typeface="Arial"/>
              </a:defRPr>
            </a:lvl1pPr>
            <a:lvl2pPr algn="r">
              <a:defRPr sz="1350" b="0">
                <a:solidFill>
                  <a:srgbClr val="4E6575"/>
                </a:solidFill>
                <a:latin typeface="Arial"/>
                <a:ea typeface="Arial"/>
                <a:cs typeface="Arial"/>
              </a:defRPr>
            </a:lvl2pPr>
            <a:lvl3pPr algn="r">
              <a:defRPr sz="1350" b="0">
                <a:solidFill>
                  <a:srgbClr val="4E6575"/>
                </a:solidFill>
                <a:latin typeface="Arial"/>
                <a:ea typeface="Arial"/>
                <a:cs typeface="Arial"/>
              </a:defRPr>
            </a:lvl3pPr>
            <a:lvl4pPr algn="r">
              <a:defRPr sz="1350" b="0">
                <a:solidFill>
                  <a:srgbClr val="4E6575"/>
                </a:solidFill>
                <a:latin typeface="Arial"/>
                <a:ea typeface="Arial"/>
                <a:cs typeface="Arial"/>
              </a:defRPr>
            </a:lvl4pPr>
            <a:lvl5pPr algn="r">
              <a:defRPr sz="1350" b="0">
                <a:solidFill>
                  <a:srgbClr val="4E6575"/>
                </a:solidFill>
                <a:latin typeface="Arial"/>
                <a:ea typeface="Arial"/>
                <a:cs typeface="Arial"/>
              </a:defRPr>
            </a:lvl5pPr>
            <a:lvl6pPr algn="r">
              <a:defRPr sz="1350" b="0">
                <a:solidFill>
                  <a:srgbClr val="4E6575"/>
                </a:solidFill>
                <a:latin typeface="Arial"/>
                <a:ea typeface="Arial"/>
                <a:cs typeface="Arial"/>
              </a:defRPr>
            </a:lvl6pPr>
            <a:lvl7pPr algn="r">
              <a:defRPr sz="1350" b="0">
                <a:solidFill>
                  <a:srgbClr val="4E6575"/>
                </a:solidFill>
                <a:latin typeface="Arial"/>
                <a:ea typeface="Arial"/>
                <a:cs typeface="Arial"/>
              </a:defRPr>
            </a:lvl7pPr>
            <a:lvl8pPr algn="r">
              <a:defRPr sz="1350" b="0">
                <a:solidFill>
                  <a:srgbClr val="4E6575"/>
                </a:solidFill>
                <a:latin typeface="Arial"/>
                <a:ea typeface="Arial"/>
                <a:cs typeface="Arial"/>
              </a:defRPr>
            </a:lvl8pPr>
            <a:lvl9pPr algn="r">
              <a:defRPr sz="1350" b="0">
                <a:solidFill>
                  <a:srgbClr val="4E6575"/>
                </a:solidFill>
                <a:latin typeface="Arial"/>
                <a:ea typeface="Arial"/>
                <a:cs typeface="Arial"/>
              </a:defRPr>
            </a:lvl9pPr>
          </a:lstStyle>
          <a:p xmlns:a="http://schemas.openxmlformats.org/drawingml/2006/main">
            <a:pPr algn="r">
              <a:defRPr sz="1350" b="0">
                <a:solidFill>
                  <a:srgbClr val="4E6575"/>
                </a:solidFill>
                <a:latin typeface="Arial"/>
                <a:ea typeface="Arial"/>
                <a:cs typeface="Arial"/>
              </a:defRPr>
            </a:pPr>
            <a:r>
              <a:rPr sz="1350" b="0">
                <a:solidFill>
                  <a:srgbClr val="4E6575"/>
                </a:solidFill>
                <a:latin typeface="Arial"/>
                <a:ea typeface="Arial"/>
                <a:cs typeface="Arial"/>
              </a:rPr>
              <a:t>08</a:t>
            </a:r>
          </a:p>
        </p:txBody>
      </p:sp>
      <p:sp>
        <p:nvSpPr>
          <p:cNvPr id="4" name="current-label">
            <a:extLst xmlns:a="http://schemas.openxmlformats.org/drawingml/2006/main">
              <a:ext uri="{FF2B5EF4-FFF2-40B4-BE49-F238E27FC236}">
                <a16:creationId xmlns:a16="http://schemas.microsoft.com/office/drawing/2014/main" id="{52F1E8B6-A5F5-4CDB-A20D-C186D0F09649}"/>
              </a:ext>
            </a:extLst>
          </p:cNvPr>
          <p:cNvSpPr>
            <a:spLocks xmlns:a="http://schemas.openxmlformats.org/drawingml/2006/main" noGrp="1"/>
          </p:cNvSpPr>
          <p:nvPr/>
        </p:nvSpPr>
        <p:spPr>
          <a:xfrm xmlns:a="http://schemas.openxmlformats.org/drawingml/2006/main">
            <a:off x="685800" y="2162175"/>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D76"/>
                </a:solidFill>
                <a:latin typeface="Arial"/>
                <a:ea typeface="Arial"/>
                <a:cs typeface="Arial"/>
              </a:defRPr>
            </a:defPPr>
            <a:lvl1pPr algn="l">
              <a:defRPr sz="1725" b="1">
                <a:solidFill>
                  <a:srgbClr val="087D76"/>
                </a:solidFill>
                <a:latin typeface="Arial"/>
                <a:ea typeface="Arial"/>
                <a:cs typeface="Arial"/>
              </a:defRPr>
            </a:lvl1pPr>
            <a:lvl2pPr algn="l">
              <a:defRPr sz="1725" b="1">
                <a:solidFill>
                  <a:srgbClr val="087D76"/>
                </a:solidFill>
                <a:latin typeface="Arial"/>
                <a:ea typeface="Arial"/>
                <a:cs typeface="Arial"/>
              </a:defRPr>
            </a:lvl2pPr>
            <a:lvl3pPr algn="l">
              <a:defRPr sz="1725" b="1">
                <a:solidFill>
                  <a:srgbClr val="087D76"/>
                </a:solidFill>
                <a:latin typeface="Arial"/>
                <a:ea typeface="Arial"/>
                <a:cs typeface="Arial"/>
              </a:defRPr>
            </a:lvl3pPr>
            <a:lvl4pPr algn="l">
              <a:defRPr sz="1725" b="1">
                <a:solidFill>
                  <a:srgbClr val="087D76"/>
                </a:solidFill>
                <a:latin typeface="Arial"/>
                <a:ea typeface="Arial"/>
                <a:cs typeface="Arial"/>
              </a:defRPr>
            </a:lvl4pPr>
            <a:lvl5pPr algn="l">
              <a:defRPr sz="1725" b="1">
                <a:solidFill>
                  <a:srgbClr val="087D76"/>
                </a:solidFill>
                <a:latin typeface="Arial"/>
                <a:ea typeface="Arial"/>
                <a:cs typeface="Arial"/>
              </a:defRPr>
            </a:lvl5pPr>
            <a:lvl6pPr algn="l">
              <a:defRPr sz="1725" b="1">
                <a:solidFill>
                  <a:srgbClr val="087D76"/>
                </a:solidFill>
                <a:latin typeface="Arial"/>
                <a:ea typeface="Arial"/>
                <a:cs typeface="Arial"/>
              </a:defRPr>
            </a:lvl6pPr>
            <a:lvl7pPr algn="l">
              <a:defRPr sz="1725" b="1">
                <a:solidFill>
                  <a:srgbClr val="087D76"/>
                </a:solidFill>
                <a:latin typeface="Arial"/>
                <a:ea typeface="Arial"/>
                <a:cs typeface="Arial"/>
              </a:defRPr>
            </a:lvl7pPr>
            <a:lvl8pPr algn="l">
              <a:defRPr sz="1725" b="1">
                <a:solidFill>
                  <a:srgbClr val="087D76"/>
                </a:solidFill>
                <a:latin typeface="Arial"/>
                <a:ea typeface="Arial"/>
                <a:cs typeface="Arial"/>
              </a:defRPr>
            </a:lvl8pPr>
            <a:lvl9pPr algn="l">
              <a:defRPr sz="1725" b="1">
                <a:solidFill>
                  <a:srgbClr val="087D76"/>
                </a:solidFill>
                <a:latin typeface="Arial"/>
                <a:ea typeface="Arial"/>
                <a:cs typeface="Arial"/>
              </a:defRPr>
            </a:lvl9pPr>
          </a:lstStyle>
          <a:p xmlns:a="http://schemas.openxmlformats.org/drawingml/2006/main">
            <a:pPr algn="l">
              <a:defRPr sz="1725" b="1">
                <a:solidFill>
                  <a:srgbClr val="087D76"/>
                </a:solidFill>
                <a:latin typeface="Arial"/>
                <a:ea typeface="Arial"/>
                <a:cs typeface="Arial"/>
              </a:defRPr>
            </a:pPr>
            <a:r>
              <a:rPr sz="1725" b="1">
                <a:solidFill>
                  <a:srgbClr val="087D76"/>
                </a:solidFill>
                <a:latin typeface="Arial"/>
                <a:ea typeface="Arial"/>
                <a:cs typeface="Arial"/>
              </a:rPr>
              <a:t>CURRENT LOCAL CANDIDATE</a:t>
            </a:r>
          </a:p>
        </p:txBody>
      </p:sp>
      <p:sp>
        <p:nvSpPr>
          <p:cNvPr id="5" name="current">
            <a:extLst xmlns:a="http://schemas.openxmlformats.org/drawingml/2006/main">
              <a:ext uri="{FF2B5EF4-FFF2-40B4-BE49-F238E27FC236}">
                <a16:creationId xmlns:a16="http://schemas.microsoft.com/office/drawing/2014/main" id="{7502B001-52D2-4021-8D1E-0E8737615A45}"/>
              </a:ext>
            </a:extLst>
          </p:cNvPr>
          <p:cNvSpPr>
            <a:spLocks xmlns:a="http://schemas.openxmlformats.org/drawingml/2006/main" noGrp="1"/>
          </p:cNvSpPr>
          <p:nvPr/>
        </p:nvSpPr>
        <p:spPr>
          <a:xfrm xmlns:a="http://schemas.openxmlformats.org/drawingml/2006/main">
            <a:off x="685800" y="2714625"/>
            <a:ext cx="50673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B3D"/>
                </a:solidFill>
                <a:latin typeface="Arial"/>
                <a:ea typeface="Arial"/>
                <a:cs typeface="Arial"/>
              </a:defRPr>
            </a:defPPr>
            <a:lvl1pPr algn="l">
              <a:defRPr sz="2325" b="0">
                <a:solidFill>
                  <a:srgbClr val="142B3D"/>
                </a:solidFill>
                <a:latin typeface="Arial"/>
                <a:ea typeface="Arial"/>
                <a:cs typeface="Arial"/>
              </a:defRPr>
            </a:lvl1pPr>
            <a:lvl2pPr algn="l">
              <a:defRPr sz="2325" b="0">
                <a:solidFill>
                  <a:srgbClr val="142B3D"/>
                </a:solidFill>
                <a:latin typeface="Arial"/>
                <a:ea typeface="Arial"/>
                <a:cs typeface="Arial"/>
              </a:defRPr>
            </a:lvl2pPr>
            <a:lvl3pPr algn="l">
              <a:defRPr sz="2325" b="0">
                <a:solidFill>
                  <a:srgbClr val="142B3D"/>
                </a:solidFill>
                <a:latin typeface="Arial"/>
                <a:ea typeface="Arial"/>
                <a:cs typeface="Arial"/>
              </a:defRPr>
            </a:lvl3pPr>
            <a:lvl4pPr algn="l">
              <a:defRPr sz="2325" b="0">
                <a:solidFill>
                  <a:srgbClr val="142B3D"/>
                </a:solidFill>
                <a:latin typeface="Arial"/>
                <a:ea typeface="Arial"/>
                <a:cs typeface="Arial"/>
              </a:defRPr>
            </a:lvl4pPr>
            <a:lvl5pPr algn="l">
              <a:defRPr sz="2325" b="0">
                <a:solidFill>
                  <a:srgbClr val="142B3D"/>
                </a:solidFill>
                <a:latin typeface="Arial"/>
                <a:ea typeface="Arial"/>
                <a:cs typeface="Arial"/>
              </a:defRPr>
            </a:lvl5pPr>
            <a:lvl6pPr algn="l">
              <a:defRPr sz="2325" b="0">
                <a:solidFill>
                  <a:srgbClr val="142B3D"/>
                </a:solidFill>
                <a:latin typeface="Arial"/>
                <a:ea typeface="Arial"/>
                <a:cs typeface="Arial"/>
              </a:defRPr>
            </a:lvl6pPr>
            <a:lvl7pPr algn="l">
              <a:defRPr sz="2325" b="0">
                <a:solidFill>
                  <a:srgbClr val="142B3D"/>
                </a:solidFill>
                <a:latin typeface="Arial"/>
                <a:ea typeface="Arial"/>
                <a:cs typeface="Arial"/>
              </a:defRPr>
            </a:lvl7pPr>
            <a:lvl8pPr algn="l">
              <a:defRPr sz="2325" b="0">
                <a:solidFill>
                  <a:srgbClr val="142B3D"/>
                </a:solidFill>
                <a:latin typeface="Arial"/>
                <a:ea typeface="Arial"/>
                <a:cs typeface="Arial"/>
              </a:defRPr>
            </a:lvl8pPr>
            <a:lvl9pPr algn="l">
              <a:defRPr sz="2325" b="0">
                <a:solidFill>
                  <a:srgbClr val="142B3D"/>
                </a:solidFill>
                <a:latin typeface="Arial"/>
                <a:ea typeface="Arial"/>
                <a:cs typeface="Arial"/>
              </a:defRPr>
            </a:lvl9pPr>
          </a:lstStyle>
          <a:p xmlns:a="http://schemas.openxmlformats.org/drawingml/2006/main">
            <a:pPr algn="l">
              <a:defRPr sz="2325" b="0">
                <a:solidFill>
                  <a:srgbClr val="142B3D"/>
                </a:solidFill>
                <a:latin typeface="Arial"/>
                <a:ea typeface="Arial"/>
                <a:cs typeface="Arial"/>
              </a:defRPr>
            </a:pPr>
            <a:r>
              <a:rPr sz="2325" b="0">
                <a:solidFill>
                  <a:srgbClr val="142B3D"/>
                </a:solidFill>
                <a:latin typeface="Arial"/>
                <a:ea typeface="Arial"/>
                <a:cs typeface="Arial"/>
              </a:rPr>
              <a:t>Install and run doctor</a:t>
            </a:r>
          </a:p>
          <a:p xmlns:a="http://schemas.openxmlformats.org/drawingml/2006/main">
            <a:pPr algn="l">
              <a:defRPr sz="2325" b="0">
                <a:solidFill>
                  <a:srgbClr val="142B3D"/>
                </a:solidFill>
                <a:latin typeface="Arial"/>
                <a:ea typeface="Arial"/>
                <a:cs typeface="Arial"/>
              </a:defRPr>
            </a:pPr>
            <a:r>
              <a:rPr sz="2325" b="0">
                <a:solidFill>
                  <a:srgbClr val="142B3D"/>
                </a:solidFill>
                <a:latin typeface="Arial"/>
                <a:ea typeface="Arial"/>
                <a:cs typeface="Arial"/>
              </a:rPr>
              <a:t>Run the offline workflow</a:t>
            </a:r>
          </a:p>
          <a:p xmlns:a="http://schemas.openxmlformats.org/drawingml/2006/main">
            <a:pPr algn="l">
              <a:defRPr sz="2325" b="0">
                <a:solidFill>
                  <a:srgbClr val="142B3D"/>
                </a:solidFill>
                <a:latin typeface="Arial"/>
                <a:ea typeface="Arial"/>
                <a:cs typeface="Arial"/>
              </a:defRPr>
            </a:pPr>
            <a:r>
              <a:rPr sz="2325" b="0">
                <a:solidFill>
                  <a:srgbClr val="142B3D"/>
                </a:solidFill>
                <a:latin typeface="Arial"/>
                <a:ea typeface="Arial"/>
                <a:cs typeface="Arial"/>
              </a:rPr>
              <a:t>Verify evidence and inspect state</a:t>
            </a:r>
          </a:p>
        </p:txBody>
      </p:sp>
      <p:sp>
        <p:nvSpPr>
          <p:cNvPr id="6" name="next-label">
            <a:extLst xmlns:a="http://schemas.openxmlformats.org/drawingml/2006/main">
              <a:ext uri="{FF2B5EF4-FFF2-40B4-BE49-F238E27FC236}">
                <a16:creationId xmlns:a16="http://schemas.microsoft.com/office/drawing/2014/main" id="{65A9121E-E2BA-4221-9F1C-0616EDE2240D}"/>
              </a:ext>
            </a:extLst>
          </p:cNvPr>
          <p:cNvSpPr>
            <a:spLocks xmlns:a="http://schemas.openxmlformats.org/drawingml/2006/main" noGrp="1"/>
          </p:cNvSpPr>
          <p:nvPr/>
        </p:nvSpPr>
        <p:spPr>
          <a:xfrm xmlns:a="http://schemas.openxmlformats.org/drawingml/2006/main">
            <a:off x="6705600" y="2162175"/>
            <a:ext cx="4800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96017"/>
                </a:solidFill>
                <a:latin typeface="Arial"/>
                <a:ea typeface="Arial"/>
                <a:cs typeface="Arial"/>
              </a:defRPr>
            </a:defPPr>
            <a:lvl1pPr algn="l">
              <a:defRPr sz="1725" b="1">
                <a:solidFill>
                  <a:srgbClr val="996017"/>
                </a:solidFill>
                <a:latin typeface="Arial"/>
                <a:ea typeface="Arial"/>
                <a:cs typeface="Arial"/>
              </a:defRPr>
            </a:lvl1pPr>
            <a:lvl2pPr algn="l">
              <a:defRPr sz="1725" b="1">
                <a:solidFill>
                  <a:srgbClr val="996017"/>
                </a:solidFill>
                <a:latin typeface="Arial"/>
                <a:ea typeface="Arial"/>
                <a:cs typeface="Arial"/>
              </a:defRPr>
            </a:lvl2pPr>
            <a:lvl3pPr algn="l">
              <a:defRPr sz="1725" b="1">
                <a:solidFill>
                  <a:srgbClr val="996017"/>
                </a:solidFill>
                <a:latin typeface="Arial"/>
                <a:ea typeface="Arial"/>
                <a:cs typeface="Arial"/>
              </a:defRPr>
            </a:lvl3pPr>
            <a:lvl4pPr algn="l">
              <a:defRPr sz="1725" b="1">
                <a:solidFill>
                  <a:srgbClr val="996017"/>
                </a:solidFill>
                <a:latin typeface="Arial"/>
                <a:ea typeface="Arial"/>
                <a:cs typeface="Arial"/>
              </a:defRPr>
            </a:lvl4pPr>
            <a:lvl5pPr algn="l">
              <a:defRPr sz="1725" b="1">
                <a:solidFill>
                  <a:srgbClr val="996017"/>
                </a:solidFill>
                <a:latin typeface="Arial"/>
                <a:ea typeface="Arial"/>
                <a:cs typeface="Arial"/>
              </a:defRPr>
            </a:lvl5pPr>
            <a:lvl6pPr algn="l">
              <a:defRPr sz="1725" b="1">
                <a:solidFill>
                  <a:srgbClr val="996017"/>
                </a:solidFill>
                <a:latin typeface="Arial"/>
                <a:ea typeface="Arial"/>
                <a:cs typeface="Arial"/>
              </a:defRPr>
            </a:lvl6pPr>
            <a:lvl7pPr algn="l">
              <a:defRPr sz="1725" b="1">
                <a:solidFill>
                  <a:srgbClr val="996017"/>
                </a:solidFill>
                <a:latin typeface="Arial"/>
                <a:ea typeface="Arial"/>
                <a:cs typeface="Arial"/>
              </a:defRPr>
            </a:lvl7pPr>
            <a:lvl8pPr algn="l">
              <a:defRPr sz="1725" b="1">
                <a:solidFill>
                  <a:srgbClr val="996017"/>
                </a:solidFill>
                <a:latin typeface="Arial"/>
                <a:ea typeface="Arial"/>
                <a:cs typeface="Arial"/>
              </a:defRPr>
            </a:lvl8pPr>
            <a:lvl9pPr algn="l">
              <a:defRPr sz="1725" b="1">
                <a:solidFill>
                  <a:srgbClr val="996017"/>
                </a:solidFill>
                <a:latin typeface="Arial"/>
                <a:ea typeface="Arial"/>
                <a:cs typeface="Arial"/>
              </a:defRPr>
            </a:lvl9pPr>
          </a:lstStyle>
          <a:p xmlns:a="http://schemas.openxmlformats.org/drawingml/2006/main">
            <a:pPr algn="l">
              <a:defRPr sz="1725" b="1">
                <a:solidFill>
                  <a:srgbClr val="996017"/>
                </a:solidFill>
                <a:latin typeface="Arial"/>
                <a:ea typeface="Arial"/>
                <a:cs typeface="Arial"/>
              </a:defRPr>
            </a:pPr>
            <a:r>
              <a:rPr sz="1725" b="1">
                <a:solidFill>
                  <a:srgbClr val="996017"/>
                </a:solidFill>
                <a:latin typeface="Arial"/>
                <a:ea typeface="Arial"/>
                <a:cs typeface="Arial"/>
              </a:rPr>
              <a:t>OPEN CLOSURE</a:t>
            </a:r>
          </a:p>
        </p:txBody>
      </p:sp>
      <p:sp>
        <p:nvSpPr>
          <p:cNvPr id="7" name="next">
            <a:extLst xmlns:a="http://schemas.openxmlformats.org/drawingml/2006/main">
              <a:ext uri="{FF2B5EF4-FFF2-40B4-BE49-F238E27FC236}">
                <a16:creationId xmlns:a16="http://schemas.microsoft.com/office/drawing/2014/main" id="{70EAB831-5DBF-4BF8-8C19-EECDC5E61E79}"/>
              </a:ext>
            </a:extLst>
          </p:cNvPr>
          <p:cNvSpPr>
            <a:spLocks xmlns:a="http://schemas.openxmlformats.org/drawingml/2006/main" noGrp="1"/>
          </p:cNvSpPr>
          <p:nvPr/>
        </p:nvSpPr>
        <p:spPr>
          <a:xfrm xmlns:a="http://schemas.openxmlformats.org/drawingml/2006/main">
            <a:off x="6705600" y="2714625"/>
            <a:ext cx="48006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B3D"/>
                </a:solidFill>
                <a:latin typeface="Arial"/>
                <a:ea typeface="Arial"/>
                <a:cs typeface="Arial"/>
              </a:defRPr>
            </a:defPPr>
            <a:lvl1pPr algn="l">
              <a:defRPr sz="2175" b="0">
                <a:solidFill>
                  <a:srgbClr val="142B3D"/>
                </a:solidFill>
                <a:latin typeface="Arial"/>
                <a:ea typeface="Arial"/>
                <a:cs typeface="Arial"/>
              </a:defRPr>
            </a:lvl1pPr>
            <a:lvl2pPr algn="l">
              <a:defRPr sz="2175" b="0">
                <a:solidFill>
                  <a:srgbClr val="142B3D"/>
                </a:solidFill>
                <a:latin typeface="Arial"/>
                <a:ea typeface="Arial"/>
                <a:cs typeface="Arial"/>
              </a:defRPr>
            </a:lvl2pPr>
            <a:lvl3pPr algn="l">
              <a:defRPr sz="2175" b="0">
                <a:solidFill>
                  <a:srgbClr val="142B3D"/>
                </a:solidFill>
                <a:latin typeface="Arial"/>
                <a:ea typeface="Arial"/>
                <a:cs typeface="Arial"/>
              </a:defRPr>
            </a:lvl3pPr>
            <a:lvl4pPr algn="l">
              <a:defRPr sz="2175" b="0">
                <a:solidFill>
                  <a:srgbClr val="142B3D"/>
                </a:solidFill>
                <a:latin typeface="Arial"/>
                <a:ea typeface="Arial"/>
                <a:cs typeface="Arial"/>
              </a:defRPr>
            </a:lvl4pPr>
            <a:lvl5pPr algn="l">
              <a:defRPr sz="2175" b="0">
                <a:solidFill>
                  <a:srgbClr val="142B3D"/>
                </a:solidFill>
                <a:latin typeface="Arial"/>
                <a:ea typeface="Arial"/>
                <a:cs typeface="Arial"/>
              </a:defRPr>
            </a:lvl5pPr>
            <a:lvl6pPr algn="l">
              <a:defRPr sz="2175" b="0">
                <a:solidFill>
                  <a:srgbClr val="142B3D"/>
                </a:solidFill>
                <a:latin typeface="Arial"/>
                <a:ea typeface="Arial"/>
                <a:cs typeface="Arial"/>
              </a:defRPr>
            </a:lvl6pPr>
            <a:lvl7pPr algn="l">
              <a:defRPr sz="2175" b="0">
                <a:solidFill>
                  <a:srgbClr val="142B3D"/>
                </a:solidFill>
                <a:latin typeface="Arial"/>
                <a:ea typeface="Arial"/>
                <a:cs typeface="Arial"/>
              </a:defRPr>
            </a:lvl7pPr>
            <a:lvl8pPr algn="l">
              <a:defRPr sz="2175" b="0">
                <a:solidFill>
                  <a:srgbClr val="142B3D"/>
                </a:solidFill>
                <a:latin typeface="Arial"/>
                <a:ea typeface="Arial"/>
                <a:cs typeface="Arial"/>
              </a:defRPr>
            </a:lvl8pPr>
            <a:lvl9pPr algn="l">
              <a:defRPr sz="2175" b="0">
                <a:solidFill>
                  <a:srgbClr val="142B3D"/>
                </a:solidFill>
                <a:latin typeface="Arial"/>
                <a:ea typeface="Arial"/>
                <a:cs typeface="Arial"/>
              </a:defRPr>
            </a:lvl9pPr>
          </a:lstStyle>
          <a:p xmlns:a="http://schemas.openxmlformats.org/drawingml/2006/main">
            <a:pPr algn="l">
              <a:defRPr sz="2175" b="0">
                <a:solidFill>
                  <a:srgbClr val="142B3D"/>
                </a:solidFill>
                <a:latin typeface="Arial"/>
                <a:ea typeface="Arial"/>
                <a:cs typeface="Arial"/>
              </a:defRPr>
            </a:pPr>
            <a:r>
              <a:rPr sz="2175" b="0">
                <a:solidFill>
                  <a:srgbClr val="142B3D"/>
                </a:solidFill>
                <a:latin typeface="Arial"/>
                <a:ea typeface="Arial"/>
                <a:cs typeface="Arial"/>
              </a:rPr>
              <a:t>Authorized live sponsor request</a:t>
            </a:r>
          </a:p>
          <a:p xmlns:a="http://schemas.openxmlformats.org/drawingml/2006/main">
            <a:pPr algn="l">
              <a:defRPr sz="2175" b="0">
                <a:solidFill>
                  <a:srgbClr val="142B3D"/>
                </a:solidFill>
                <a:latin typeface="Arial"/>
                <a:ea typeface="Arial"/>
                <a:cs typeface="Arial"/>
              </a:defRPr>
            </a:pPr>
            <a:r>
              <a:rPr sz="2175" b="0">
                <a:solidFill>
                  <a:srgbClr val="142B3D"/>
                </a:solidFill>
                <a:latin typeface="Arial"/>
                <a:ea typeface="Arial"/>
                <a:cs typeface="Arial"/>
              </a:rPr>
              <a:t>Real Zetaris data receipt</a:t>
            </a:r>
          </a:p>
          <a:p xmlns:a="http://schemas.openxmlformats.org/drawingml/2006/main">
            <a:pPr algn="l">
              <a:defRPr sz="2175" b="0">
                <a:solidFill>
                  <a:srgbClr val="142B3D"/>
                </a:solidFill>
                <a:latin typeface="Arial"/>
                <a:ea typeface="Arial"/>
                <a:cs typeface="Arial"/>
              </a:defRPr>
            </a:pPr>
            <a:r>
              <a:rPr sz="2175" b="0">
                <a:solidFill>
                  <a:srgbClr val="142B3D"/>
                </a:solidFill>
                <a:latin typeface="Arial"/>
                <a:ea typeface="Arial"/>
                <a:cs typeface="Arial"/>
              </a:rPr>
              <a:t>Human external submission decision</a:t>
            </a:r>
          </a:p>
        </p:txBody>
      </p:sp>
      <p:sp>
        <p:nvSpPr>
          <p:cNvPr id="8" name="limits">
            <a:extLst xmlns:a="http://schemas.openxmlformats.org/drawingml/2006/main">
              <a:ext uri="{FF2B5EF4-FFF2-40B4-BE49-F238E27FC236}">
                <a16:creationId xmlns:a16="http://schemas.microsoft.com/office/drawing/2014/main" id="{E91D3717-BE16-43C4-8B46-3F46B62AF539}"/>
              </a:ext>
            </a:extLst>
          </p:cNvPr>
          <p:cNvSpPr>
            <a:spLocks xmlns:a="http://schemas.openxmlformats.org/drawingml/2006/main" noGrp="1"/>
          </p:cNvSpPr>
          <p:nvPr/>
        </p:nvSpPr>
        <p:spPr>
          <a:xfrm xmlns:a="http://schemas.openxmlformats.org/drawingml/2006/main">
            <a:off x="685800" y="4714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E6575"/>
                </a:solidFill>
                <a:latin typeface="Arial"/>
                <a:ea typeface="Arial"/>
                <a:cs typeface="Arial"/>
              </a:defRPr>
            </a:defPPr>
            <a:lvl1pPr algn="l">
              <a:defRPr sz="1875" b="0">
                <a:solidFill>
                  <a:srgbClr val="4E6575"/>
                </a:solidFill>
                <a:latin typeface="Arial"/>
                <a:ea typeface="Arial"/>
                <a:cs typeface="Arial"/>
              </a:defRPr>
            </a:lvl1pPr>
            <a:lvl2pPr algn="l">
              <a:defRPr sz="1875" b="0">
                <a:solidFill>
                  <a:srgbClr val="4E6575"/>
                </a:solidFill>
                <a:latin typeface="Arial"/>
                <a:ea typeface="Arial"/>
                <a:cs typeface="Arial"/>
              </a:defRPr>
            </a:lvl2pPr>
            <a:lvl3pPr algn="l">
              <a:defRPr sz="1875" b="0">
                <a:solidFill>
                  <a:srgbClr val="4E6575"/>
                </a:solidFill>
                <a:latin typeface="Arial"/>
                <a:ea typeface="Arial"/>
                <a:cs typeface="Arial"/>
              </a:defRPr>
            </a:lvl3pPr>
            <a:lvl4pPr algn="l">
              <a:defRPr sz="1875" b="0">
                <a:solidFill>
                  <a:srgbClr val="4E6575"/>
                </a:solidFill>
                <a:latin typeface="Arial"/>
                <a:ea typeface="Arial"/>
                <a:cs typeface="Arial"/>
              </a:defRPr>
            </a:lvl4pPr>
            <a:lvl5pPr algn="l">
              <a:defRPr sz="1875" b="0">
                <a:solidFill>
                  <a:srgbClr val="4E6575"/>
                </a:solidFill>
                <a:latin typeface="Arial"/>
                <a:ea typeface="Arial"/>
                <a:cs typeface="Arial"/>
              </a:defRPr>
            </a:lvl5pPr>
            <a:lvl6pPr algn="l">
              <a:defRPr sz="1875" b="0">
                <a:solidFill>
                  <a:srgbClr val="4E6575"/>
                </a:solidFill>
                <a:latin typeface="Arial"/>
                <a:ea typeface="Arial"/>
                <a:cs typeface="Arial"/>
              </a:defRPr>
            </a:lvl6pPr>
            <a:lvl7pPr algn="l">
              <a:defRPr sz="1875" b="0">
                <a:solidFill>
                  <a:srgbClr val="4E6575"/>
                </a:solidFill>
                <a:latin typeface="Arial"/>
                <a:ea typeface="Arial"/>
                <a:cs typeface="Arial"/>
              </a:defRPr>
            </a:lvl7pPr>
            <a:lvl8pPr algn="l">
              <a:defRPr sz="1875" b="0">
                <a:solidFill>
                  <a:srgbClr val="4E6575"/>
                </a:solidFill>
                <a:latin typeface="Arial"/>
                <a:ea typeface="Arial"/>
                <a:cs typeface="Arial"/>
              </a:defRPr>
            </a:lvl8pPr>
            <a:lvl9pPr algn="l">
              <a:defRPr sz="1875" b="0">
                <a:solidFill>
                  <a:srgbClr val="4E6575"/>
                </a:solidFill>
                <a:latin typeface="Arial"/>
                <a:ea typeface="Arial"/>
                <a:cs typeface="Arial"/>
              </a:defRPr>
            </a:lvl9pPr>
          </a:lstStyle>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Other-machine / VM proof, RAM / encryption and full agent-to-yard routing remain HOLD.</a:t>
            </a:r>
          </a:p>
          <a:p xmlns:a="http://schemas.openxmlformats.org/drawingml/2006/main">
            <a:pPr algn="l">
              <a:defRPr sz="1875" b="0">
                <a:solidFill>
                  <a:srgbClr val="4E6575"/>
                </a:solidFill>
                <a:latin typeface="Arial"/>
                <a:ea typeface="Arial"/>
                <a:cs typeface="Arial"/>
              </a:defRPr>
            </a:pPr>
            <a:r>
              <a:rPr sz="1875" b="0">
                <a:solidFill>
                  <a:srgbClr val="4E6575"/>
                </a:solidFill>
                <a:latin typeface="Arial"/>
                <a:ea typeface="Arial"/>
                <a:cs typeface="Arial"/>
              </a:rPr>
              <a:t>Moved active journals stay HOLD; transfer source and evidence for a fresh run.</a:t>
            </a:r>
          </a:p>
        </p:txBody>
      </p:sp>
      <p:sp>
        <p:nvSpPr>
          <p:cNvPr id="9" name="human">
            <a:extLst xmlns:a="http://schemas.openxmlformats.org/drawingml/2006/main">
              <a:ext uri="{FF2B5EF4-FFF2-40B4-BE49-F238E27FC236}">
                <a16:creationId xmlns:a16="http://schemas.microsoft.com/office/drawing/2014/main" id="{19B75DE2-A982-4BA3-BB68-BDE8FA4C906E}"/>
              </a:ext>
            </a:extLst>
          </p:cNvPr>
          <p:cNvSpPr>
            <a:spLocks xmlns:a="http://schemas.openxmlformats.org/drawingml/2006/main" noGrp="1"/>
          </p:cNvSpPr>
          <p:nvPr/>
        </p:nvSpPr>
        <p:spPr>
          <a:xfrm xmlns:a="http://schemas.openxmlformats.org/drawingml/2006/main">
            <a:off x="685800" y="5800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B3D"/>
                </a:solidFill>
                <a:latin typeface="Arial"/>
                <a:ea typeface="Arial"/>
                <a:cs typeface="Arial"/>
              </a:defRPr>
            </a:defPPr>
            <a:lvl1pPr algn="l">
              <a:defRPr sz="1950" b="1">
                <a:solidFill>
                  <a:srgbClr val="142B3D"/>
                </a:solidFill>
                <a:latin typeface="Arial"/>
                <a:ea typeface="Arial"/>
                <a:cs typeface="Arial"/>
              </a:defRPr>
            </a:lvl1pPr>
            <a:lvl2pPr algn="l">
              <a:defRPr sz="1950" b="1">
                <a:solidFill>
                  <a:srgbClr val="142B3D"/>
                </a:solidFill>
                <a:latin typeface="Arial"/>
                <a:ea typeface="Arial"/>
                <a:cs typeface="Arial"/>
              </a:defRPr>
            </a:lvl2pPr>
            <a:lvl3pPr algn="l">
              <a:defRPr sz="1950" b="1">
                <a:solidFill>
                  <a:srgbClr val="142B3D"/>
                </a:solidFill>
                <a:latin typeface="Arial"/>
                <a:ea typeface="Arial"/>
                <a:cs typeface="Arial"/>
              </a:defRPr>
            </a:lvl3pPr>
            <a:lvl4pPr algn="l">
              <a:defRPr sz="1950" b="1">
                <a:solidFill>
                  <a:srgbClr val="142B3D"/>
                </a:solidFill>
                <a:latin typeface="Arial"/>
                <a:ea typeface="Arial"/>
                <a:cs typeface="Arial"/>
              </a:defRPr>
            </a:lvl4pPr>
            <a:lvl5pPr algn="l">
              <a:defRPr sz="1950" b="1">
                <a:solidFill>
                  <a:srgbClr val="142B3D"/>
                </a:solidFill>
                <a:latin typeface="Arial"/>
                <a:ea typeface="Arial"/>
                <a:cs typeface="Arial"/>
              </a:defRPr>
            </a:lvl5pPr>
            <a:lvl6pPr algn="l">
              <a:defRPr sz="1950" b="1">
                <a:solidFill>
                  <a:srgbClr val="142B3D"/>
                </a:solidFill>
                <a:latin typeface="Arial"/>
                <a:ea typeface="Arial"/>
                <a:cs typeface="Arial"/>
              </a:defRPr>
            </a:lvl6pPr>
            <a:lvl7pPr algn="l">
              <a:defRPr sz="1950" b="1">
                <a:solidFill>
                  <a:srgbClr val="142B3D"/>
                </a:solidFill>
                <a:latin typeface="Arial"/>
                <a:ea typeface="Arial"/>
                <a:cs typeface="Arial"/>
              </a:defRPr>
            </a:lvl7pPr>
            <a:lvl8pPr algn="l">
              <a:defRPr sz="1950" b="1">
                <a:solidFill>
                  <a:srgbClr val="142B3D"/>
                </a:solidFill>
                <a:latin typeface="Arial"/>
                <a:ea typeface="Arial"/>
                <a:cs typeface="Arial"/>
              </a:defRPr>
            </a:lvl8pPr>
            <a:lvl9pPr algn="l">
              <a:defRPr sz="1950" b="1">
                <a:solidFill>
                  <a:srgbClr val="142B3D"/>
                </a:solidFill>
                <a:latin typeface="Arial"/>
                <a:ea typeface="Arial"/>
                <a:cs typeface="Arial"/>
              </a:defRPr>
            </a:lvl9pPr>
          </a:lstStyle>
          <a:p xmlns:a="http://schemas.openxmlformats.org/drawingml/2006/main">
            <a:pPr algn="l">
              <a:defRPr sz="1950" b="1">
                <a:solidFill>
                  <a:srgbClr val="142B3D"/>
                </a:solidFill>
                <a:latin typeface="Arial"/>
                <a:ea typeface="Arial"/>
                <a:cs typeface="Arial"/>
              </a:defRPr>
            </a:pPr>
            <a:r>
              <a:rPr sz="1950" b="1">
                <a:solidFill>
                  <a:srgbClr val="142B3D"/>
                </a:solidFill>
                <a:latin typeface="Arial"/>
                <a:ea typeface="Arial"/>
                <a:cs typeface="Arial"/>
              </a:rPr>
              <a:t>Local construction and Private review do not grant external submission authority.</a:t>
            </a:r>
          </a:p>
        </p:txBody>
      </p:sp>
    </p:spTree>
    <p:extLst>
      <p:ext uri="{BB962C8B-B14F-4D97-AF65-F5344CB8AC3E}">
        <p14:creationId xmlns:p14="http://schemas.microsoft.com/office/powerpoint/2010/main" val="14719687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2026-10-26T16:12:41.7450000Z</dcterms:created>
  <dcterms:modified xsi:type="dcterms:W3CDTF">2026-10-26T16:12:41.7450000Z</dcterms:modified>
</coreProperties>
</file>